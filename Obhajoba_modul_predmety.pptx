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424" autoAdjust="0"/>
  </p:normalViewPr>
  <p:slideViewPr>
    <p:cSldViewPr snapToGrid="0" snapToObjects="1">
      <p:cViewPr varScale="1">
        <p:scale>
          <a:sx n="90" d="100"/>
          <a:sy n="90" d="100"/>
        </p:scale>
        <p:origin x="8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6706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Úvod. Modul pro správu předmětů ve školním informačním systému, postavený v Reactu nad GraphQL. Jádrem projektu jsou kompletní CRUD operace nad entitami Subject a Semester, readonly a writable stránky, a generování dat.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Přehled CRUD. Create řeší InsertAsyncAction a dialog CreateDialog – vytvoří předmět i s jeho semestry. Read pokrývá seznam přes ReadPageAsyncAction a detail na readonly stránce. Update obstarává UpdateAsyncAction a komponenta EditMode – edituje pole i semestry. Delete přes DeleteAsyncAction maže kaskádově, tedy nejdřív semestry, pak předmět. Každou operaci teď rozeberu na dalších slidech.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Readonly stránka za 5 bodů. Řetězec komponent: PageReadItem je vstupní stránka, SubjectSubPage vykreslí detail s programem a tabulkou semestrů, a MediumContent zobrazuje jednotlivá pole entity. Klíčové chování – vykreslují se jen pole, která mají hodnotu, prázdná se nezobrazí. Semestry se v tabulce řadí podle pořadí a název semestru se odvozuje z čísla pořadí funkcí getSemesterName.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pokrývá i seznam. Stránka PageVector vykresluje tabulku Table s definovanými sloupci – název, program, počet semestrů, datum změny. Sloupce jdou řadit; většina server-side, počet semestrů lokálně. Data se donačítají po 25 přes infinite scroll s IntersectionObserverem. V každém řádku je KebabMenu s akcemi Detail, Editovat a Smazat, které propojují seznam s ostatními CRUD operacemi.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Writable stránka za 5 bodů. Řetězec: PageUpdateItem je editační stránka, EditMode obsluhuje ukládání a MediumEditableContent je formulář s poli a správcem semestrů. Nabízím dva režimy – auto-save v režimu live s debounce 800 ms a manuální confirm s tlačítky Uložit a Zrušit. Prezentační komponenty samy neukládají, jen předávají události onChange nahoru; veškeré ukládání centralizuje EditMode.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Součást Update – správa semestrů. Uživatel může semestr přidat, smazat nebo přesunout nahoru a dolů. SemestersManager přitom mění jen lokální stav a volá callback. EditMode pak porovná původní a aktuální seznam a rozřadí operace na create, delete a update, které provede v tomto pořadí. Změny se drží lokálně a propíšou až při uložení, každá mutace používá lastchange kvůli optimistic lockingu.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 vytvoření předmětu přes CreateDialog. Nejdřív validuji, že je vybraný program, jinak nejde uložit. Pak InsertAsyncAction vytvoří samotný Subject a vrátí jeho id. Nakonec projdu všechny přidané semestry označené flagem create a každý vytvořím přes SemesterInsertAsyncAction, navázaný na id nového předmětu. Vytvoření předmětu i jeho semestrů je tak jedna atomická akce z pohledu uživatele.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 kaskádové mazání. Předmět má na sobě navázané semestry přes foreign key, takže je nelze smazat najednou. Nejdřív projdu a smažu všechny semestry, a teprve pak samotný předmět. Pokud semestr obsahuje klasifikace, backend vrátí ForeignKey chybu, kterou překládám do srozumitelné hlášky. Uživatele předem upozorním potvrzovacím dialogem, kolik semestrů se smaže. Každá delete mutace navíc vyžaduje aktuální lastchange.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Generování dat za 10 bodů. Generátor v GenerateForm s utilitami v generatorUtils skládá názvy předmětů z přídavného a podstatného jména. Klíčové je respektování české gramatiky – koncovka se mění podle rodu podstatného jména, takže vznikne „Kvantová fyzika" nebo „Aplikovaný management", ne nesmysly. Každému vygenerovanému předmětu se navíc vytvoří náhodný počet semestrů od jedné do dvanácti. Program se bere buď z API, nebo se vybere náhodně, a hlídá se, aby kombinace byly unikátní bez duplicit.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 generování ve čtyřech krocích. Na vstupu jsou slovníky přídavných a podstatných jmen a požadovaný počet. Funkce generateUniqueSubjects vytvoří unikátní kombinace se správným skloňováním. Uživatel pak v ConfirmForm vybere, které z navržených předmětů skutečně chce. Nakonec se každý vybraný předmět uloží přes InsertAsyncAction a dostane náhodný počet jedna až dvanáct semestrů. Tím se aplikace rychle naplní realistickými daty pro téma školního systému.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Znovupouzitelnost. Vedle CRUD nad predmety vznikla rada obecnych komponent, ktere nejsou vazane na entitu Subject a daji se pouzit pro dalsi entity. AddNamedTypedItemCard je genericky pridavac polozky s nazvem a typem. AlertBanner sjednocuje hlasky. ConfirmForm potvrzuje nevratne akce a nechava vybrat polozky; sdili ho mazani i generator. JsonStateTools resi import, export a diff JSON stavu. SemestersManager je obecny spravce podrizeneho 1:N seznamu. ProgramSelect je vyber z navazane entity a slouzi jako vzor pro cizi klic. Vse jen pres props.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Udrzitelnost a struktura. Modul ma oddelene vrstvy: Pages, Components, Queries a Mutations s Fragments. Pridat novou entitu znamena doplnit vrstvy podle stejneho vzoru, ne prepisovat kod. Drzi to jednosmerny tok dat - komponenty posilaji onChange nahoru, ukladani centralizuje EditMode. Genericke komponenty jsou znovupouzitelne, optimistic locking pres lastchange umoznuje soubezne editace a chyby se prekladaji do srozumitelnych hlasek.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A14A3-E110-4A3B-C8A3-BC7497554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C8523B-DF3D-610B-6368-8282A7BA3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B4EE82-33C1-E724-A5F4-D17F1D3DB8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E54B91-3141-A04C-E3C2-A0220A860B1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658199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7315200" y="1005840"/>
            <a:ext cx="4297680" cy="4846320"/>
          </a:xfrm>
          <a:prstGeom prst="roundRect">
            <a:avLst>
              <a:gd name="adj" fmla="val 2128"/>
            </a:avLst>
          </a:prstGeom>
          <a:solidFill>
            <a:srgbClr val="1B2333"/>
          </a:solidFill>
          <a:ln w="12700">
            <a:solidFill>
              <a:srgbClr val="2C3A52"/>
            </a:solidFill>
            <a:prstDash val="solid"/>
          </a:ln>
        </p:spPr>
        <p:txBody>
          <a:bodyPr/>
          <a:lstStyle/>
          <a:p>
            <a:endParaRPr lang="en-GB"/>
          </a:p>
        </p:txBody>
      </p:sp>
      <p:sp>
        <p:nvSpPr>
          <p:cNvPr id="3" name="Shape 1"/>
          <p:cNvSpPr/>
          <p:nvPr/>
        </p:nvSpPr>
        <p:spPr>
          <a:xfrm>
            <a:off x="7543800" y="1234440"/>
            <a:ext cx="3840480" cy="4389120"/>
          </a:xfrm>
          <a:prstGeom prst="roundRect">
            <a:avLst>
              <a:gd name="adj" fmla="val 1429"/>
            </a:avLst>
          </a:prstGeom>
          <a:solidFill>
            <a:srgbClr val="10161F"/>
          </a:solidFill>
          <a:ln w="12700">
            <a:solidFill>
              <a:srgbClr val="2C3A52"/>
            </a:solidFill>
            <a:prstDash val="solid"/>
          </a:ln>
        </p:spPr>
        <p:txBody>
          <a:bodyPr/>
          <a:lstStyle/>
          <a:p>
            <a:endParaRPr lang="en-GB"/>
          </a:p>
        </p:txBody>
      </p:sp>
      <p:sp>
        <p:nvSpPr>
          <p:cNvPr id="4" name="Text 2"/>
          <p:cNvSpPr/>
          <p:nvPr/>
        </p:nvSpPr>
        <p:spPr>
          <a:xfrm>
            <a:off x="7653528" y="1307592"/>
            <a:ext cx="3621024" cy="4242816"/>
          </a:xfrm>
          <a:prstGeom prst="rect">
            <a:avLst/>
          </a:prstGeom>
          <a:noFill/>
          <a:ln/>
        </p:spPr>
        <p:txBody>
          <a:bodyPr wrap="square" lIns="0" tIns="0" rIns="0" bIns="0" rtlCol="0" anchor="t"/>
          <a:lstStyle/>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CRUD Subject + Semester</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C  InsertAsyncAction</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   CreateDialog.jsx</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R  ReadPageAsyncAction</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   SubjectSubPage.jsx</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U  UpdateAsyncAction</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   EditMode.jsx</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D  DeleteAsyncAction</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   Delete.jsx (kaskáda)</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 Generátor předmětů</a:t>
            </a:r>
            <a:endParaRPr lang="en-US" sz="1200" dirty="0"/>
          </a:p>
          <a:p>
            <a:pPr marL="0" indent="0" algn="l">
              <a:lnSpc>
                <a:spcPct val="105000"/>
              </a:lnSpc>
              <a:buNone/>
            </a:pPr>
            <a:r>
              <a:rPr lang="en-US" sz="1200" dirty="0">
                <a:solidFill>
                  <a:srgbClr val="E6EDF3"/>
                </a:solidFill>
                <a:latin typeface="Courier New" pitchFamily="34" charset="0"/>
                <a:ea typeface="Courier New" pitchFamily="34" charset="-122"/>
                <a:cs typeface="Courier New" pitchFamily="34" charset="-120"/>
              </a:rPr>
              <a:t>  GenerateForm.jsx</a:t>
            </a:r>
            <a:endParaRPr lang="en-US" sz="1200" dirty="0"/>
          </a:p>
        </p:txBody>
      </p:sp>
      <p:sp>
        <p:nvSpPr>
          <p:cNvPr id="5" name="Text 3"/>
          <p:cNvSpPr/>
          <p:nvPr/>
        </p:nvSpPr>
        <p:spPr>
          <a:xfrm>
            <a:off x="640080" y="1234440"/>
            <a:ext cx="6400800" cy="365760"/>
          </a:xfrm>
          <a:prstGeom prst="rect">
            <a:avLst/>
          </a:prstGeom>
          <a:noFill/>
          <a:ln/>
        </p:spPr>
        <p:txBody>
          <a:bodyPr wrap="square" rtlCol="0" anchor="ctr"/>
          <a:lstStyle/>
          <a:p>
            <a:pPr marL="0" indent="0">
              <a:buNone/>
            </a:pPr>
            <a:r>
              <a:rPr lang="en-US" sz="1400" b="1" kern="0" spc="200" dirty="0">
                <a:solidFill>
                  <a:srgbClr val="4FC3F7"/>
                </a:solidFill>
                <a:latin typeface="Calibri" pitchFamily="34" charset="0"/>
                <a:ea typeface="Calibri" pitchFamily="34" charset="-122"/>
                <a:cs typeface="Calibri" pitchFamily="34" charset="-120"/>
              </a:rPr>
              <a:t>Webové technologie</a:t>
            </a:r>
            <a:endParaRPr lang="en-US" sz="1400" dirty="0"/>
          </a:p>
        </p:txBody>
      </p:sp>
      <p:sp>
        <p:nvSpPr>
          <p:cNvPr id="6" name="Text 4"/>
          <p:cNvSpPr/>
          <p:nvPr/>
        </p:nvSpPr>
        <p:spPr>
          <a:xfrm>
            <a:off x="603504" y="1645920"/>
            <a:ext cx="6492240" cy="1828800"/>
          </a:xfrm>
          <a:prstGeom prst="rect">
            <a:avLst/>
          </a:prstGeom>
          <a:noFill/>
          <a:ln/>
        </p:spPr>
        <p:txBody>
          <a:bodyPr wrap="square" rtlCol="0" anchor="ctr"/>
          <a:lstStyle/>
          <a:p>
            <a:pPr marL="0" indent="0">
              <a:lnSpc>
                <a:spcPct val="98000"/>
              </a:lnSpc>
              <a:buNone/>
            </a:pPr>
            <a:r>
              <a:rPr lang="en-US" sz="4600" b="1" dirty="0">
                <a:solidFill>
                  <a:srgbClr val="E6EDF3"/>
                </a:solidFill>
                <a:latin typeface="Cambria" pitchFamily="34" charset="0"/>
                <a:ea typeface="Cambria" pitchFamily="34" charset="-122"/>
                <a:cs typeface="Cambria" pitchFamily="34" charset="-120"/>
              </a:rPr>
              <a:t>Modul pro správu</a:t>
            </a:r>
            <a:endParaRPr lang="en-US" sz="4600" dirty="0"/>
          </a:p>
          <a:p>
            <a:pPr marL="0" indent="0">
              <a:lnSpc>
                <a:spcPct val="98000"/>
              </a:lnSpc>
              <a:buNone/>
            </a:pPr>
            <a:r>
              <a:rPr lang="en-US" sz="4600" b="1" dirty="0">
                <a:solidFill>
                  <a:srgbClr val="E6EDF3"/>
                </a:solidFill>
                <a:latin typeface="Cambria" pitchFamily="34" charset="0"/>
                <a:ea typeface="Cambria" pitchFamily="34" charset="-122"/>
                <a:cs typeface="Cambria" pitchFamily="34" charset="-120"/>
              </a:rPr>
              <a:t>předmětů</a:t>
            </a:r>
            <a:endParaRPr lang="en-US" sz="4600" dirty="0"/>
          </a:p>
        </p:txBody>
      </p:sp>
      <p:sp>
        <p:nvSpPr>
          <p:cNvPr id="7" name="Text 5"/>
          <p:cNvSpPr/>
          <p:nvPr/>
        </p:nvSpPr>
        <p:spPr>
          <a:xfrm>
            <a:off x="640080" y="3611880"/>
            <a:ext cx="6309360" cy="822960"/>
          </a:xfrm>
          <a:prstGeom prst="rect">
            <a:avLst/>
          </a:prstGeom>
          <a:noFill/>
          <a:ln/>
        </p:spPr>
        <p:txBody>
          <a:bodyPr wrap="square" rtlCol="0" anchor="ctr"/>
          <a:lstStyle/>
          <a:p>
            <a:pPr marL="0" indent="0">
              <a:lnSpc>
                <a:spcPct val="110000"/>
              </a:lnSpc>
              <a:buNone/>
            </a:pPr>
            <a:r>
              <a:rPr lang="en-US" sz="1500" dirty="0">
                <a:solidFill>
                  <a:srgbClr val="8B98AC"/>
                </a:solidFill>
                <a:latin typeface="Calibri" pitchFamily="34" charset="0"/>
                <a:ea typeface="Calibri" pitchFamily="34" charset="-122"/>
                <a:cs typeface="Calibri" pitchFamily="34" charset="-120"/>
              </a:rPr>
              <a:t>CRUD nad entitami Subject a Semester —</a:t>
            </a:r>
            <a:endParaRPr lang="en-US" sz="1500" dirty="0"/>
          </a:p>
          <a:p>
            <a:pPr marL="0" indent="0">
              <a:lnSpc>
                <a:spcPct val="110000"/>
              </a:lnSpc>
              <a:buNone/>
            </a:pPr>
            <a:r>
              <a:rPr lang="en-US" sz="1500" dirty="0">
                <a:solidFill>
                  <a:srgbClr val="8B98AC"/>
                </a:solidFill>
                <a:latin typeface="Calibri" pitchFamily="34" charset="0"/>
                <a:ea typeface="Calibri" pitchFamily="34" charset="-122"/>
                <a:cs typeface="Calibri" pitchFamily="34" charset="-120"/>
              </a:rPr>
              <a:t>readonly a writable stránky, generování dat</a:t>
            </a:r>
            <a:endParaRPr lang="en-US" sz="1500" dirty="0"/>
          </a:p>
        </p:txBody>
      </p:sp>
      <p:sp>
        <p:nvSpPr>
          <p:cNvPr id="8" name="Shape 6"/>
          <p:cNvSpPr/>
          <p:nvPr/>
        </p:nvSpPr>
        <p:spPr>
          <a:xfrm>
            <a:off x="640080" y="4663440"/>
            <a:ext cx="1371600" cy="365760"/>
          </a:xfrm>
          <a:prstGeom prst="roundRect">
            <a:avLst>
              <a:gd name="adj" fmla="val 50000"/>
            </a:avLst>
          </a:prstGeom>
          <a:solidFill>
            <a:srgbClr val="232E42"/>
          </a:solidFill>
          <a:ln w="12700">
            <a:solidFill>
              <a:srgbClr val="4FC3F7"/>
            </a:solidFill>
            <a:prstDash val="solid"/>
          </a:ln>
        </p:spPr>
        <p:txBody>
          <a:bodyPr/>
          <a:lstStyle/>
          <a:p>
            <a:endParaRPr lang="en-GB"/>
          </a:p>
        </p:txBody>
      </p:sp>
      <p:sp>
        <p:nvSpPr>
          <p:cNvPr id="9" name="Text 7"/>
          <p:cNvSpPr/>
          <p:nvPr/>
        </p:nvSpPr>
        <p:spPr>
          <a:xfrm>
            <a:off x="640080" y="4663440"/>
            <a:ext cx="1371600" cy="365760"/>
          </a:xfrm>
          <a:prstGeom prst="rect">
            <a:avLst/>
          </a:prstGeom>
          <a:noFill/>
          <a:ln/>
        </p:spPr>
        <p:txBody>
          <a:bodyPr wrap="square" rtlCol="0" anchor="ctr"/>
          <a:lstStyle/>
          <a:p>
            <a:pPr marL="0" indent="0" algn="ctr">
              <a:buNone/>
            </a:pPr>
            <a:r>
              <a:rPr lang="en-US" sz="1100" b="1" dirty="0">
                <a:solidFill>
                  <a:srgbClr val="4FC3F7"/>
                </a:solidFill>
                <a:latin typeface="Courier New" pitchFamily="34" charset="0"/>
                <a:ea typeface="Courier New" pitchFamily="34" charset="-122"/>
                <a:cs typeface="Courier New" pitchFamily="34" charset="-120"/>
              </a:rPr>
              <a:t>React.js</a:t>
            </a:r>
            <a:endParaRPr lang="en-US" sz="1100" dirty="0"/>
          </a:p>
        </p:txBody>
      </p:sp>
      <p:sp>
        <p:nvSpPr>
          <p:cNvPr id="10" name="Shape 8"/>
          <p:cNvSpPr/>
          <p:nvPr/>
        </p:nvSpPr>
        <p:spPr>
          <a:xfrm>
            <a:off x="2148840" y="4663440"/>
            <a:ext cx="1554480" cy="365760"/>
          </a:xfrm>
          <a:prstGeom prst="roundRect">
            <a:avLst>
              <a:gd name="adj" fmla="val 50000"/>
            </a:avLst>
          </a:prstGeom>
          <a:solidFill>
            <a:srgbClr val="232E42"/>
          </a:solidFill>
          <a:ln w="12700">
            <a:solidFill>
              <a:srgbClr val="F778BA"/>
            </a:solidFill>
            <a:prstDash val="solid"/>
          </a:ln>
        </p:spPr>
        <p:txBody>
          <a:bodyPr/>
          <a:lstStyle/>
          <a:p>
            <a:endParaRPr lang="en-GB"/>
          </a:p>
        </p:txBody>
      </p:sp>
      <p:sp>
        <p:nvSpPr>
          <p:cNvPr id="11" name="Text 9"/>
          <p:cNvSpPr/>
          <p:nvPr/>
        </p:nvSpPr>
        <p:spPr>
          <a:xfrm>
            <a:off x="2148840" y="4663440"/>
            <a:ext cx="1554480" cy="365760"/>
          </a:xfrm>
          <a:prstGeom prst="rect">
            <a:avLst/>
          </a:prstGeom>
          <a:noFill/>
          <a:ln/>
        </p:spPr>
        <p:txBody>
          <a:bodyPr wrap="square" rtlCol="0" anchor="ctr"/>
          <a:lstStyle/>
          <a:p>
            <a:pPr marL="0" indent="0" algn="ctr">
              <a:buNone/>
            </a:pPr>
            <a:r>
              <a:rPr lang="en-US" sz="1100" b="1" dirty="0">
                <a:solidFill>
                  <a:srgbClr val="F778BA"/>
                </a:solidFill>
                <a:latin typeface="Courier New" pitchFamily="34" charset="0"/>
                <a:ea typeface="Courier New" pitchFamily="34" charset="-122"/>
                <a:cs typeface="Courier New" pitchFamily="34" charset="-120"/>
              </a:rPr>
              <a:t>GraphQL</a:t>
            </a:r>
            <a:endParaRPr lang="en-US" sz="1100" dirty="0"/>
          </a:p>
        </p:txBody>
      </p:sp>
      <p:sp>
        <p:nvSpPr>
          <p:cNvPr id="12" name="Shape 10"/>
          <p:cNvSpPr/>
          <p:nvPr/>
        </p:nvSpPr>
        <p:spPr>
          <a:xfrm>
            <a:off x="3840480" y="4663440"/>
            <a:ext cx="1645920" cy="365760"/>
          </a:xfrm>
          <a:prstGeom prst="roundRect">
            <a:avLst>
              <a:gd name="adj" fmla="val 50000"/>
            </a:avLst>
          </a:prstGeom>
          <a:solidFill>
            <a:srgbClr val="232E42"/>
          </a:solidFill>
          <a:ln w="12700">
            <a:solidFill>
              <a:srgbClr val="7EE787"/>
            </a:solidFill>
            <a:prstDash val="solid"/>
          </a:ln>
        </p:spPr>
        <p:txBody>
          <a:bodyPr/>
          <a:lstStyle/>
          <a:p>
            <a:endParaRPr lang="en-GB"/>
          </a:p>
        </p:txBody>
      </p:sp>
      <p:sp>
        <p:nvSpPr>
          <p:cNvPr id="13" name="Text 11"/>
          <p:cNvSpPr/>
          <p:nvPr/>
        </p:nvSpPr>
        <p:spPr>
          <a:xfrm>
            <a:off x="3840480" y="4663440"/>
            <a:ext cx="1645920" cy="365760"/>
          </a:xfrm>
          <a:prstGeom prst="rect">
            <a:avLst/>
          </a:prstGeom>
          <a:noFill/>
          <a:ln/>
        </p:spPr>
        <p:txBody>
          <a:bodyPr wrap="square" rtlCol="0" anchor="ctr"/>
          <a:lstStyle/>
          <a:p>
            <a:pPr marL="0" indent="0" algn="ctr">
              <a:buNone/>
            </a:pPr>
            <a:r>
              <a:rPr lang="sk-SK" sz="1100" b="1" dirty="0">
                <a:solidFill>
                  <a:srgbClr val="7EE787"/>
                </a:solidFill>
                <a:latin typeface="Courier New" pitchFamily="34" charset="0"/>
                <a:ea typeface="Courier New" pitchFamily="34" charset="-122"/>
                <a:cs typeface="Courier New" pitchFamily="34" charset="-120"/>
              </a:rPr>
              <a:t>_</a:t>
            </a:r>
            <a:r>
              <a:rPr lang="sk-SK" sz="1100" b="1" dirty="0" err="1">
                <a:solidFill>
                  <a:srgbClr val="7EE787"/>
                </a:solidFill>
                <a:latin typeface="Courier New" pitchFamily="34" charset="0"/>
                <a:ea typeface="Courier New" pitchFamily="34" charset="-122"/>
                <a:cs typeface="Courier New" pitchFamily="34" charset="-120"/>
              </a:rPr>
              <a:t>uois</a:t>
            </a:r>
            <a:endParaRPr lang="en-US" sz="1100" dirty="0"/>
          </a:p>
        </p:txBody>
      </p:sp>
      <p:sp>
        <p:nvSpPr>
          <p:cNvPr id="14" name="Text 12"/>
          <p:cNvSpPr/>
          <p:nvPr/>
        </p:nvSpPr>
        <p:spPr>
          <a:xfrm>
            <a:off x="640080" y="5852160"/>
            <a:ext cx="6400800" cy="365760"/>
          </a:xfrm>
          <a:prstGeom prst="rect">
            <a:avLst/>
          </a:prstGeom>
          <a:noFill/>
          <a:ln/>
        </p:spPr>
        <p:txBody>
          <a:bodyPr wrap="square" rtlCol="0" anchor="ctr"/>
          <a:lstStyle/>
          <a:p>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rtlCol="0" anchor="ctr"/>
          <a:lstStyle/>
          <a:p>
            <a:pPr marL="0" indent="0">
              <a:buNone/>
            </a:pPr>
            <a:r>
              <a:rPr lang="en-US" sz="1200" b="1" kern="0" spc="200" dirty="0">
                <a:solidFill>
                  <a:srgbClr val="4FC3F7"/>
                </a:solidFill>
                <a:latin typeface="Calibri" pitchFamily="34" charset="0"/>
                <a:ea typeface="Calibri" pitchFamily="34" charset="-122"/>
                <a:cs typeface="Calibri" pitchFamily="34" charset="-120"/>
              </a:rPr>
              <a:t>JÁDRO PROJEKTU</a:t>
            </a:r>
            <a:endParaRPr lang="en-US" sz="1200" dirty="0"/>
          </a:p>
        </p:txBody>
      </p:sp>
      <p:sp>
        <p:nvSpPr>
          <p:cNvPr id="3" name="Text 1"/>
          <p:cNvSpPr/>
          <p:nvPr/>
        </p:nvSpPr>
        <p:spPr>
          <a:xfrm>
            <a:off x="548640" y="640080"/>
            <a:ext cx="11064240" cy="68580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CRUD operace nad entitou Subject</a:t>
            </a:r>
            <a:endParaRPr lang="en-US" sz="3000" dirty="0"/>
          </a:p>
        </p:txBody>
      </p:sp>
      <p:sp>
        <p:nvSpPr>
          <p:cNvPr id="4" name="Shape 2"/>
          <p:cNvSpPr/>
          <p:nvPr/>
        </p:nvSpPr>
        <p:spPr>
          <a:xfrm>
            <a:off x="548640" y="1600200"/>
            <a:ext cx="5394960" cy="1965960"/>
          </a:xfrm>
          <a:prstGeom prst="roundRect">
            <a:avLst>
              <a:gd name="adj" fmla="val 3721"/>
            </a:avLst>
          </a:prstGeom>
          <a:solidFill>
            <a:srgbClr val="1B2333"/>
          </a:solidFill>
          <a:ln w="16510">
            <a:solidFill>
              <a:srgbClr val="7EE787"/>
            </a:solidFill>
            <a:prstDash val="solid"/>
          </a:ln>
        </p:spPr>
        <p:txBody>
          <a:bodyPr/>
          <a:lstStyle/>
          <a:p>
            <a:endParaRPr lang="en-GB"/>
          </a:p>
        </p:txBody>
      </p:sp>
      <p:sp>
        <p:nvSpPr>
          <p:cNvPr id="5" name="Shape 3"/>
          <p:cNvSpPr/>
          <p:nvPr/>
        </p:nvSpPr>
        <p:spPr>
          <a:xfrm>
            <a:off x="822960" y="1892808"/>
            <a:ext cx="640080" cy="640080"/>
          </a:xfrm>
          <a:prstGeom prst="ellipse">
            <a:avLst/>
          </a:prstGeom>
          <a:solidFill>
            <a:srgbClr val="7EE787"/>
          </a:solidFill>
          <a:ln/>
        </p:spPr>
        <p:txBody>
          <a:bodyPr/>
          <a:lstStyle/>
          <a:p>
            <a:endParaRPr lang="en-GB"/>
          </a:p>
        </p:txBody>
      </p:sp>
      <p:sp>
        <p:nvSpPr>
          <p:cNvPr id="6" name="Text 4"/>
          <p:cNvSpPr/>
          <p:nvPr/>
        </p:nvSpPr>
        <p:spPr>
          <a:xfrm>
            <a:off x="822960" y="1892808"/>
            <a:ext cx="640080" cy="640080"/>
          </a:xfrm>
          <a:prstGeom prst="rect">
            <a:avLst/>
          </a:prstGeom>
          <a:noFill/>
          <a:ln/>
        </p:spPr>
        <p:txBody>
          <a:bodyPr wrap="square" rtlCol="0" anchor="ctr"/>
          <a:lstStyle/>
          <a:p>
            <a:pPr marL="0" indent="0" algn="ctr">
              <a:buNone/>
            </a:pPr>
            <a:r>
              <a:rPr lang="en-US" sz="2000" b="1" dirty="0">
                <a:solidFill>
                  <a:srgbClr val="0F1420"/>
                </a:solidFill>
                <a:latin typeface="Cambria" pitchFamily="34" charset="0"/>
                <a:ea typeface="Cambria" pitchFamily="34" charset="-122"/>
                <a:cs typeface="Cambria" pitchFamily="34" charset="-120"/>
              </a:rPr>
              <a:t>C</a:t>
            </a:r>
            <a:endParaRPr lang="en-US" sz="2000" dirty="0"/>
          </a:p>
        </p:txBody>
      </p:sp>
      <p:sp>
        <p:nvSpPr>
          <p:cNvPr id="7" name="Text 5"/>
          <p:cNvSpPr/>
          <p:nvPr/>
        </p:nvSpPr>
        <p:spPr>
          <a:xfrm>
            <a:off x="1645920" y="1874520"/>
            <a:ext cx="4114800" cy="457200"/>
          </a:xfrm>
          <a:prstGeom prst="rect">
            <a:avLst/>
          </a:prstGeom>
          <a:noFill/>
          <a:ln/>
        </p:spPr>
        <p:txBody>
          <a:bodyPr wrap="square" rtlCol="0" anchor="ctr"/>
          <a:lstStyle/>
          <a:p>
            <a:pPr marL="0" indent="0">
              <a:buNone/>
            </a:pPr>
            <a:r>
              <a:rPr lang="en-US" sz="2000" b="1" dirty="0">
                <a:solidFill>
                  <a:srgbClr val="E6EDF3"/>
                </a:solidFill>
                <a:latin typeface="Cambria" pitchFamily="34" charset="0"/>
                <a:ea typeface="Cambria" pitchFamily="34" charset="-122"/>
                <a:cs typeface="Cambria" pitchFamily="34" charset="-120"/>
              </a:rPr>
              <a:t>Create</a:t>
            </a:r>
            <a:endParaRPr lang="en-US" sz="2000" dirty="0"/>
          </a:p>
        </p:txBody>
      </p:sp>
      <p:sp>
        <p:nvSpPr>
          <p:cNvPr id="8" name="Text 6"/>
          <p:cNvSpPr/>
          <p:nvPr/>
        </p:nvSpPr>
        <p:spPr>
          <a:xfrm>
            <a:off x="1645920" y="2350008"/>
            <a:ext cx="4160520" cy="365760"/>
          </a:xfrm>
          <a:prstGeom prst="rect">
            <a:avLst/>
          </a:prstGeom>
          <a:noFill/>
          <a:ln/>
        </p:spPr>
        <p:txBody>
          <a:bodyPr wrap="square" rtlCol="0" anchor="ctr"/>
          <a:lstStyle/>
          <a:p>
            <a:pPr marL="0" indent="0">
              <a:buNone/>
            </a:pPr>
            <a:r>
              <a:rPr lang="en-US" sz="1150" dirty="0">
                <a:solidFill>
                  <a:srgbClr val="7EE787"/>
                </a:solidFill>
                <a:latin typeface="Courier New" pitchFamily="34" charset="0"/>
                <a:ea typeface="Courier New" pitchFamily="34" charset="-122"/>
                <a:cs typeface="Courier New" pitchFamily="34" charset="-120"/>
              </a:rPr>
              <a:t>InsertAsyncAction · CreateDialog.jsx</a:t>
            </a:r>
            <a:endParaRPr lang="en-US" sz="1150" dirty="0"/>
          </a:p>
        </p:txBody>
      </p:sp>
      <p:sp>
        <p:nvSpPr>
          <p:cNvPr id="9" name="Text 7"/>
          <p:cNvSpPr/>
          <p:nvPr/>
        </p:nvSpPr>
        <p:spPr>
          <a:xfrm>
            <a:off x="822960" y="2880360"/>
            <a:ext cx="4846320" cy="548640"/>
          </a:xfrm>
          <a:prstGeom prst="rect">
            <a:avLst/>
          </a:prstGeom>
          <a:noFill/>
          <a:ln/>
        </p:spPr>
        <p:txBody>
          <a:bodyPr wrap="square" rtlCol="0" anchor="t"/>
          <a:lstStyle/>
          <a:p>
            <a:pPr marL="0" indent="0">
              <a:buNone/>
            </a:pPr>
            <a:r>
              <a:rPr lang="en-US" sz="1350" dirty="0">
                <a:solidFill>
                  <a:srgbClr val="8B98AC"/>
                </a:solidFill>
                <a:latin typeface="Calibri" pitchFamily="34" charset="0"/>
                <a:ea typeface="Calibri" pitchFamily="34" charset="-122"/>
                <a:cs typeface="Calibri" pitchFamily="34" charset="-120"/>
              </a:rPr>
              <a:t>Vytvoření předmětu vč. semestrů</a:t>
            </a:r>
            <a:endParaRPr lang="en-US" sz="1350" dirty="0"/>
          </a:p>
        </p:txBody>
      </p:sp>
      <p:sp>
        <p:nvSpPr>
          <p:cNvPr id="10" name="Shape 8"/>
          <p:cNvSpPr/>
          <p:nvPr/>
        </p:nvSpPr>
        <p:spPr>
          <a:xfrm>
            <a:off x="6172200" y="1600200"/>
            <a:ext cx="5394960" cy="1965960"/>
          </a:xfrm>
          <a:prstGeom prst="roundRect">
            <a:avLst>
              <a:gd name="adj" fmla="val 3721"/>
            </a:avLst>
          </a:prstGeom>
          <a:solidFill>
            <a:srgbClr val="1B2333"/>
          </a:solidFill>
          <a:ln w="16510">
            <a:solidFill>
              <a:srgbClr val="4FC3F7"/>
            </a:solidFill>
            <a:prstDash val="solid"/>
          </a:ln>
        </p:spPr>
        <p:txBody>
          <a:bodyPr/>
          <a:lstStyle/>
          <a:p>
            <a:endParaRPr lang="en-GB"/>
          </a:p>
        </p:txBody>
      </p:sp>
      <p:sp>
        <p:nvSpPr>
          <p:cNvPr id="11" name="Shape 9"/>
          <p:cNvSpPr/>
          <p:nvPr/>
        </p:nvSpPr>
        <p:spPr>
          <a:xfrm>
            <a:off x="6446520" y="1892808"/>
            <a:ext cx="640080" cy="640080"/>
          </a:xfrm>
          <a:prstGeom prst="ellipse">
            <a:avLst/>
          </a:prstGeom>
          <a:solidFill>
            <a:srgbClr val="4FC3F7"/>
          </a:solidFill>
          <a:ln/>
        </p:spPr>
        <p:txBody>
          <a:bodyPr/>
          <a:lstStyle/>
          <a:p>
            <a:endParaRPr lang="en-GB"/>
          </a:p>
        </p:txBody>
      </p:sp>
      <p:sp>
        <p:nvSpPr>
          <p:cNvPr id="12" name="Text 10"/>
          <p:cNvSpPr/>
          <p:nvPr/>
        </p:nvSpPr>
        <p:spPr>
          <a:xfrm>
            <a:off x="6446520" y="1892808"/>
            <a:ext cx="640080" cy="640080"/>
          </a:xfrm>
          <a:prstGeom prst="rect">
            <a:avLst/>
          </a:prstGeom>
          <a:noFill/>
          <a:ln/>
        </p:spPr>
        <p:txBody>
          <a:bodyPr wrap="square" rtlCol="0" anchor="ctr"/>
          <a:lstStyle/>
          <a:p>
            <a:pPr marL="0" indent="0" algn="ctr">
              <a:buNone/>
            </a:pPr>
            <a:r>
              <a:rPr lang="en-US" sz="2000" b="1" dirty="0">
                <a:solidFill>
                  <a:srgbClr val="0F1420"/>
                </a:solidFill>
                <a:latin typeface="Cambria" pitchFamily="34" charset="0"/>
                <a:ea typeface="Cambria" pitchFamily="34" charset="-122"/>
                <a:cs typeface="Cambria" pitchFamily="34" charset="-120"/>
              </a:rPr>
              <a:t>R</a:t>
            </a:r>
            <a:endParaRPr lang="en-US" sz="2000" dirty="0"/>
          </a:p>
        </p:txBody>
      </p:sp>
      <p:sp>
        <p:nvSpPr>
          <p:cNvPr id="13" name="Text 11"/>
          <p:cNvSpPr/>
          <p:nvPr/>
        </p:nvSpPr>
        <p:spPr>
          <a:xfrm>
            <a:off x="7269480" y="1874520"/>
            <a:ext cx="4114800" cy="457200"/>
          </a:xfrm>
          <a:prstGeom prst="rect">
            <a:avLst/>
          </a:prstGeom>
          <a:noFill/>
          <a:ln/>
        </p:spPr>
        <p:txBody>
          <a:bodyPr wrap="square" rtlCol="0" anchor="ctr"/>
          <a:lstStyle/>
          <a:p>
            <a:pPr marL="0" indent="0">
              <a:buNone/>
            </a:pPr>
            <a:r>
              <a:rPr lang="en-US" sz="2000" b="1" dirty="0">
                <a:solidFill>
                  <a:srgbClr val="E6EDF3"/>
                </a:solidFill>
                <a:latin typeface="Cambria" pitchFamily="34" charset="0"/>
                <a:ea typeface="Cambria" pitchFamily="34" charset="-122"/>
                <a:cs typeface="Cambria" pitchFamily="34" charset="-120"/>
              </a:rPr>
              <a:t>Read</a:t>
            </a:r>
            <a:endParaRPr lang="en-US" sz="2000" dirty="0"/>
          </a:p>
        </p:txBody>
      </p:sp>
      <p:sp>
        <p:nvSpPr>
          <p:cNvPr id="14" name="Text 12"/>
          <p:cNvSpPr/>
          <p:nvPr/>
        </p:nvSpPr>
        <p:spPr>
          <a:xfrm>
            <a:off x="7269480" y="2350008"/>
            <a:ext cx="4160520" cy="365760"/>
          </a:xfrm>
          <a:prstGeom prst="rect">
            <a:avLst/>
          </a:prstGeom>
          <a:noFill/>
          <a:ln/>
        </p:spPr>
        <p:txBody>
          <a:bodyPr wrap="square" rtlCol="0" anchor="ctr"/>
          <a:lstStyle/>
          <a:p>
            <a:pPr marL="0" indent="0">
              <a:buNone/>
            </a:pPr>
            <a:r>
              <a:rPr lang="en-US" sz="1150" dirty="0">
                <a:solidFill>
                  <a:srgbClr val="4FC3F7"/>
                </a:solidFill>
                <a:latin typeface="Courier New" pitchFamily="34" charset="0"/>
                <a:ea typeface="Courier New" pitchFamily="34" charset="-122"/>
                <a:cs typeface="Courier New" pitchFamily="34" charset="-120"/>
              </a:rPr>
              <a:t>ReadPageAsyncAction · ReadItem</a:t>
            </a:r>
            <a:endParaRPr lang="en-US" sz="1150" dirty="0"/>
          </a:p>
        </p:txBody>
      </p:sp>
      <p:sp>
        <p:nvSpPr>
          <p:cNvPr id="15" name="Text 13"/>
          <p:cNvSpPr/>
          <p:nvPr/>
        </p:nvSpPr>
        <p:spPr>
          <a:xfrm>
            <a:off x="6446520" y="2880360"/>
            <a:ext cx="4846320" cy="548640"/>
          </a:xfrm>
          <a:prstGeom prst="rect">
            <a:avLst/>
          </a:prstGeom>
          <a:noFill/>
          <a:ln/>
        </p:spPr>
        <p:txBody>
          <a:bodyPr wrap="square" rtlCol="0" anchor="t"/>
          <a:lstStyle/>
          <a:p>
            <a:pPr marL="0" indent="0">
              <a:buNone/>
            </a:pPr>
            <a:r>
              <a:rPr lang="en-US" sz="1350" dirty="0">
                <a:solidFill>
                  <a:srgbClr val="8B98AC"/>
                </a:solidFill>
                <a:latin typeface="Calibri" pitchFamily="34" charset="0"/>
                <a:ea typeface="Calibri" pitchFamily="34" charset="-122"/>
                <a:cs typeface="Calibri" pitchFamily="34" charset="-120"/>
              </a:rPr>
              <a:t>Seznam + detail (readonly stránka)</a:t>
            </a:r>
            <a:endParaRPr lang="en-US" sz="1350" dirty="0"/>
          </a:p>
        </p:txBody>
      </p:sp>
      <p:sp>
        <p:nvSpPr>
          <p:cNvPr id="16" name="Shape 14"/>
          <p:cNvSpPr/>
          <p:nvPr/>
        </p:nvSpPr>
        <p:spPr>
          <a:xfrm>
            <a:off x="548640" y="3794760"/>
            <a:ext cx="5394960" cy="1965960"/>
          </a:xfrm>
          <a:prstGeom prst="roundRect">
            <a:avLst>
              <a:gd name="adj" fmla="val 3721"/>
            </a:avLst>
          </a:prstGeom>
          <a:solidFill>
            <a:srgbClr val="1B2333"/>
          </a:solidFill>
          <a:ln w="16510">
            <a:solidFill>
              <a:srgbClr val="F778BA"/>
            </a:solidFill>
            <a:prstDash val="solid"/>
          </a:ln>
        </p:spPr>
        <p:txBody>
          <a:bodyPr/>
          <a:lstStyle/>
          <a:p>
            <a:endParaRPr lang="en-GB"/>
          </a:p>
        </p:txBody>
      </p:sp>
      <p:sp>
        <p:nvSpPr>
          <p:cNvPr id="17" name="Shape 15"/>
          <p:cNvSpPr/>
          <p:nvPr/>
        </p:nvSpPr>
        <p:spPr>
          <a:xfrm>
            <a:off x="822960" y="4087368"/>
            <a:ext cx="640080" cy="640080"/>
          </a:xfrm>
          <a:prstGeom prst="ellipse">
            <a:avLst/>
          </a:prstGeom>
          <a:solidFill>
            <a:srgbClr val="F778BA"/>
          </a:solidFill>
          <a:ln/>
        </p:spPr>
        <p:txBody>
          <a:bodyPr/>
          <a:lstStyle/>
          <a:p>
            <a:endParaRPr lang="en-GB"/>
          </a:p>
        </p:txBody>
      </p:sp>
      <p:sp>
        <p:nvSpPr>
          <p:cNvPr id="18" name="Text 16"/>
          <p:cNvSpPr/>
          <p:nvPr/>
        </p:nvSpPr>
        <p:spPr>
          <a:xfrm>
            <a:off x="822960" y="4087368"/>
            <a:ext cx="640080" cy="640080"/>
          </a:xfrm>
          <a:prstGeom prst="rect">
            <a:avLst/>
          </a:prstGeom>
          <a:noFill/>
          <a:ln/>
        </p:spPr>
        <p:txBody>
          <a:bodyPr wrap="square" rtlCol="0" anchor="ctr"/>
          <a:lstStyle/>
          <a:p>
            <a:pPr marL="0" indent="0" algn="ctr">
              <a:buNone/>
            </a:pPr>
            <a:r>
              <a:rPr lang="en-US" sz="2000" b="1" dirty="0">
                <a:solidFill>
                  <a:srgbClr val="0F1420"/>
                </a:solidFill>
                <a:latin typeface="Cambria" pitchFamily="34" charset="0"/>
                <a:ea typeface="Cambria" pitchFamily="34" charset="-122"/>
                <a:cs typeface="Cambria" pitchFamily="34" charset="-120"/>
              </a:rPr>
              <a:t>U</a:t>
            </a:r>
            <a:endParaRPr lang="en-US" sz="2000" dirty="0"/>
          </a:p>
        </p:txBody>
      </p:sp>
      <p:sp>
        <p:nvSpPr>
          <p:cNvPr id="19" name="Text 17"/>
          <p:cNvSpPr/>
          <p:nvPr/>
        </p:nvSpPr>
        <p:spPr>
          <a:xfrm>
            <a:off x="1645920" y="4069080"/>
            <a:ext cx="4114800" cy="457200"/>
          </a:xfrm>
          <a:prstGeom prst="rect">
            <a:avLst/>
          </a:prstGeom>
          <a:noFill/>
          <a:ln/>
        </p:spPr>
        <p:txBody>
          <a:bodyPr wrap="square" rtlCol="0" anchor="ctr"/>
          <a:lstStyle/>
          <a:p>
            <a:pPr marL="0" indent="0">
              <a:buNone/>
            </a:pPr>
            <a:r>
              <a:rPr lang="en-US" sz="2000" b="1" dirty="0">
                <a:solidFill>
                  <a:srgbClr val="E6EDF3"/>
                </a:solidFill>
                <a:latin typeface="Cambria" pitchFamily="34" charset="0"/>
                <a:ea typeface="Cambria" pitchFamily="34" charset="-122"/>
                <a:cs typeface="Cambria" pitchFamily="34" charset="-120"/>
              </a:rPr>
              <a:t>Update</a:t>
            </a:r>
            <a:endParaRPr lang="en-US" sz="2000" dirty="0"/>
          </a:p>
        </p:txBody>
      </p:sp>
      <p:sp>
        <p:nvSpPr>
          <p:cNvPr id="20" name="Text 18"/>
          <p:cNvSpPr/>
          <p:nvPr/>
        </p:nvSpPr>
        <p:spPr>
          <a:xfrm>
            <a:off x="1645920" y="4544568"/>
            <a:ext cx="4160520" cy="365760"/>
          </a:xfrm>
          <a:prstGeom prst="rect">
            <a:avLst/>
          </a:prstGeom>
          <a:noFill/>
          <a:ln/>
        </p:spPr>
        <p:txBody>
          <a:bodyPr wrap="square" rtlCol="0" anchor="ctr"/>
          <a:lstStyle/>
          <a:p>
            <a:pPr marL="0" indent="0">
              <a:buNone/>
            </a:pPr>
            <a:r>
              <a:rPr lang="en-US" sz="1150" dirty="0">
                <a:solidFill>
                  <a:srgbClr val="F778BA"/>
                </a:solidFill>
                <a:latin typeface="Courier New" pitchFamily="34" charset="0"/>
                <a:ea typeface="Courier New" pitchFamily="34" charset="-122"/>
                <a:cs typeface="Courier New" pitchFamily="34" charset="-120"/>
              </a:rPr>
              <a:t>UpdateAsyncAction · EditMode.jsx</a:t>
            </a:r>
            <a:endParaRPr lang="en-US" sz="1150" dirty="0"/>
          </a:p>
        </p:txBody>
      </p:sp>
      <p:sp>
        <p:nvSpPr>
          <p:cNvPr id="21" name="Text 19"/>
          <p:cNvSpPr/>
          <p:nvPr/>
        </p:nvSpPr>
        <p:spPr>
          <a:xfrm>
            <a:off x="822960" y="5074920"/>
            <a:ext cx="4846320" cy="548640"/>
          </a:xfrm>
          <a:prstGeom prst="rect">
            <a:avLst/>
          </a:prstGeom>
          <a:noFill/>
          <a:ln/>
        </p:spPr>
        <p:txBody>
          <a:bodyPr wrap="square" rtlCol="0" anchor="t"/>
          <a:lstStyle/>
          <a:p>
            <a:pPr marL="0" indent="0">
              <a:buNone/>
            </a:pPr>
            <a:r>
              <a:rPr lang="en-US" sz="1350" dirty="0">
                <a:solidFill>
                  <a:srgbClr val="8B98AC"/>
                </a:solidFill>
                <a:latin typeface="Calibri" pitchFamily="34" charset="0"/>
                <a:ea typeface="Calibri" pitchFamily="34" charset="-122"/>
                <a:cs typeface="Calibri" pitchFamily="34" charset="-120"/>
              </a:rPr>
              <a:t>Editace polí i semestrů (writable)</a:t>
            </a:r>
            <a:endParaRPr lang="en-US" sz="1350" dirty="0"/>
          </a:p>
        </p:txBody>
      </p:sp>
      <p:sp>
        <p:nvSpPr>
          <p:cNvPr id="22" name="Shape 20"/>
          <p:cNvSpPr/>
          <p:nvPr/>
        </p:nvSpPr>
        <p:spPr>
          <a:xfrm>
            <a:off x="6172200" y="3794760"/>
            <a:ext cx="5394960" cy="1965960"/>
          </a:xfrm>
          <a:prstGeom prst="roundRect">
            <a:avLst>
              <a:gd name="adj" fmla="val 3721"/>
            </a:avLst>
          </a:prstGeom>
          <a:solidFill>
            <a:srgbClr val="1B2333"/>
          </a:solidFill>
          <a:ln w="16510">
            <a:solidFill>
              <a:srgbClr val="F0A868"/>
            </a:solidFill>
            <a:prstDash val="solid"/>
          </a:ln>
        </p:spPr>
        <p:txBody>
          <a:bodyPr/>
          <a:lstStyle/>
          <a:p>
            <a:endParaRPr lang="en-GB"/>
          </a:p>
        </p:txBody>
      </p:sp>
      <p:sp>
        <p:nvSpPr>
          <p:cNvPr id="23" name="Shape 21"/>
          <p:cNvSpPr/>
          <p:nvPr/>
        </p:nvSpPr>
        <p:spPr>
          <a:xfrm>
            <a:off x="6446520" y="4087368"/>
            <a:ext cx="640080" cy="640080"/>
          </a:xfrm>
          <a:prstGeom prst="ellipse">
            <a:avLst/>
          </a:prstGeom>
          <a:solidFill>
            <a:srgbClr val="F0A868"/>
          </a:solidFill>
          <a:ln/>
        </p:spPr>
        <p:txBody>
          <a:bodyPr/>
          <a:lstStyle/>
          <a:p>
            <a:endParaRPr lang="en-GB"/>
          </a:p>
        </p:txBody>
      </p:sp>
      <p:sp>
        <p:nvSpPr>
          <p:cNvPr id="24" name="Text 22"/>
          <p:cNvSpPr/>
          <p:nvPr/>
        </p:nvSpPr>
        <p:spPr>
          <a:xfrm>
            <a:off x="6446520" y="4087368"/>
            <a:ext cx="640080" cy="640080"/>
          </a:xfrm>
          <a:prstGeom prst="rect">
            <a:avLst/>
          </a:prstGeom>
          <a:noFill/>
          <a:ln/>
        </p:spPr>
        <p:txBody>
          <a:bodyPr wrap="square" rtlCol="0" anchor="ctr"/>
          <a:lstStyle/>
          <a:p>
            <a:pPr marL="0" indent="0" algn="ctr">
              <a:buNone/>
            </a:pPr>
            <a:r>
              <a:rPr lang="en-US" sz="2000" b="1" dirty="0">
                <a:solidFill>
                  <a:srgbClr val="0F1420"/>
                </a:solidFill>
                <a:latin typeface="Cambria" pitchFamily="34" charset="0"/>
                <a:ea typeface="Cambria" pitchFamily="34" charset="-122"/>
                <a:cs typeface="Cambria" pitchFamily="34" charset="-120"/>
              </a:rPr>
              <a:t>D</a:t>
            </a:r>
            <a:endParaRPr lang="en-US" sz="2000" dirty="0"/>
          </a:p>
        </p:txBody>
      </p:sp>
      <p:sp>
        <p:nvSpPr>
          <p:cNvPr id="25" name="Text 23"/>
          <p:cNvSpPr/>
          <p:nvPr/>
        </p:nvSpPr>
        <p:spPr>
          <a:xfrm>
            <a:off x="7269480" y="4069080"/>
            <a:ext cx="4114800" cy="457200"/>
          </a:xfrm>
          <a:prstGeom prst="rect">
            <a:avLst/>
          </a:prstGeom>
          <a:noFill/>
          <a:ln/>
        </p:spPr>
        <p:txBody>
          <a:bodyPr wrap="square" rtlCol="0" anchor="ctr"/>
          <a:lstStyle/>
          <a:p>
            <a:pPr marL="0" indent="0">
              <a:buNone/>
            </a:pPr>
            <a:r>
              <a:rPr lang="en-US" sz="2000" b="1" dirty="0">
                <a:solidFill>
                  <a:srgbClr val="E6EDF3"/>
                </a:solidFill>
                <a:latin typeface="Cambria" pitchFamily="34" charset="0"/>
                <a:ea typeface="Cambria" pitchFamily="34" charset="-122"/>
                <a:cs typeface="Cambria" pitchFamily="34" charset="-120"/>
              </a:rPr>
              <a:t>Delete</a:t>
            </a:r>
            <a:endParaRPr lang="en-US" sz="2000" dirty="0"/>
          </a:p>
        </p:txBody>
      </p:sp>
      <p:sp>
        <p:nvSpPr>
          <p:cNvPr id="26" name="Text 24"/>
          <p:cNvSpPr/>
          <p:nvPr/>
        </p:nvSpPr>
        <p:spPr>
          <a:xfrm>
            <a:off x="7269480" y="4544568"/>
            <a:ext cx="4160520" cy="365760"/>
          </a:xfrm>
          <a:prstGeom prst="rect">
            <a:avLst/>
          </a:prstGeom>
          <a:noFill/>
          <a:ln/>
        </p:spPr>
        <p:txBody>
          <a:bodyPr wrap="square" rtlCol="0" anchor="ctr"/>
          <a:lstStyle/>
          <a:p>
            <a:pPr marL="0" indent="0">
              <a:buNone/>
            </a:pPr>
            <a:r>
              <a:rPr lang="en-US" sz="1150" dirty="0">
                <a:solidFill>
                  <a:srgbClr val="F0A868"/>
                </a:solidFill>
                <a:latin typeface="Courier New" pitchFamily="34" charset="0"/>
                <a:ea typeface="Courier New" pitchFamily="34" charset="-122"/>
                <a:cs typeface="Courier New" pitchFamily="34" charset="-120"/>
              </a:rPr>
              <a:t>DeleteAsyncAction · Delete.jsx</a:t>
            </a:r>
            <a:endParaRPr lang="en-US" sz="1150" dirty="0"/>
          </a:p>
        </p:txBody>
      </p:sp>
      <p:sp>
        <p:nvSpPr>
          <p:cNvPr id="27" name="Text 25"/>
          <p:cNvSpPr/>
          <p:nvPr/>
        </p:nvSpPr>
        <p:spPr>
          <a:xfrm>
            <a:off x="6446520" y="5074920"/>
            <a:ext cx="4846320" cy="548640"/>
          </a:xfrm>
          <a:prstGeom prst="rect">
            <a:avLst/>
          </a:prstGeom>
          <a:noFill/>
          <a:ln/>
        </p:spPr>
        <p:txBody>
          <a:bodyPr wrap="square" rtlCol="0" anchor="t"/>
          <a:lstStyle/>
          <a:p>
            <a:pPr marL="0" indent="0">
              <a:buNone/>
            </a:pPr>
            <a:r>
              <a:rPr lang="en-US" sz="1350" dirty="0">
                <a:solidFill>
                  <a:srgbClr val="8B98AC"/>
                </a:solidFill>
                <a:latin typeface="Calibri" pitchFamily="34" charset="0"/>
                <a:ea typeface="Calibri" pitchFamily="34" charset="-122"/>
                <a:cs typeface="Calibri" pitchFamily="34" charset="-120"/>
              </a:rPr>
              <a:t>Kaskádové mazání předmět + semestry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rtlCol="0" anchor="ctr"/>
          <a:lstStyle/>
          <a:p>
            <a:pPr marL="0" indent="0">
              <a:buNone/>
            </a:pPr>
            <a:r>
              <a:rPr lang="en-US" sz="1200" b="1" kern="0" spc="200" dirty="0">
                <a:solidFill>
                  <a:srgbClr val="4FC3F7"/>
                </a:solidFill>
                <a:latin typeface="Calibri" pitchFamily="34" charset="0"/>
                <a:ea typeface="Calibri" pitchFamily="34" charset="-122"/>
                <a:cs typeface="Calibri" pitchFamily="34" charset="-120"/>
              </a:rPr>
              <a:t>READ </a:t>
            </a:r>
            <a:endParaRPr lang="en-US" sz="1200" dirty="0"/>
          </a:p>
        </p:txBody>
      </p:sp>
      <p:sp>
        <p:nvSpPr>
          <p:cNvPr id="3" name="Text 1"/>
          <p:cNvSpPr/>
          <p:nvPr/>
        </p:nvSpPr>
        <p:spPr>
          <a:xfrm>
            <a:off x="548640" y="640080"/>
            <a:ext cx="11064240" cy="68580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Readonly stránka — detail předmětu</a:t>
            </a:r>
            <a:endParaRPr lang="en-US" sz="3000" dirty="0"/>
          </a:p>
        </p:txBody>
      </p:sp>
      <p:sp>
        <p:nvSpPr>
          <p:cNvPr id="6" name="Text 4"/>
          <p:cNvSpPr/>
          <p:nvPr/>
        </p:nvSpPr>
        <p:spPr>
          <a:xfrm>
            <a:off x="548640" y="1417320"/>
            <a:ext cx="10972800" cy="365760"/>
          </a:xfrm>
          <a:prstGeom prst="rect">
            <a:avLst/>
          </a:prstGeom>
          <a:noFill/>
          <a:ln/>
        </p:spPr>
        <p:txBody>
          <a:bodyPr wrap="square" rtlCol="0" anchor="ctr"/>
          <a:lstStyle/>
          <a:p>
            <a:pPr marL="0" indent="0">
              <a:buNone/>
            </a:pPr>
            <a:r>
              <a:rPr lang="en-US" sz="1400" dirty="0">
                <a:solidFill>
                  <a:srgbClr val="8B98AC"/>
                </a:solidFill>
                <a:latin typeface="Calibri" pitchFamily="34" charset="0"/>
                <a:ea typeface="Calibri" pitchFamily="34" charset="-122"/>
                <a:cs typeface="Calibri" pitchFamily="34" charset="-120"/>
              </a:rPr>
              <a:t>PageReadItem → SubjectSubPage → MediumContent · vykreslí jen pole, která mají hodnotu.</a:t>
            </a:r>
            <a:endParaRPr lang="en-US" sz="1400" dirty="0"/>
          </a:p>
        </p:txBody>
      </p:sp>
      <p:sp>
        <p:nvSpPr>
          <p:cNvPr id="7" name="Shape 5"/>
          <p:cNvSpPr/>
          <p:nvPr/>
        </p:nvSpPr>
        <p:spPr>
          <a:xfrm>
            <a:off x="548640" y="1874520"/>
            <a:ext cx="5212080" cy="4206240"/>
          </a:xfrm>
          <a:prstGeom prst="roundRect">
            <a:avLst>
              <a:gd name="adj" fmla="val 2174"/>
            </a:avLst>
          </a:prstGeom>
          <a:solidFill>
            <a:srgbClr val="1B2333"/>
          </a:solidFill>
          <a:ln w="15240">
            <a:solidFill>
              <a:srgbClr val="4FC3F7"/>
            </a:solidFill>
            <a:prstDash val="solid"/>
          </a:ln>
        </p:spPr>
        <p:txBody>
          <a:bodyPr/>
          <a:lstStyle/>
          <a:p>
            <a:endParaRPr lang="en-GB"/>
          </a:p>
        </p:txBody>
      </p:sp>
      <p:sp>
        <p:nvSpPr>
          <p:cNvPr id="8" name="Text 6"/>
          <p:cNvSpPr/>
          <p:nvPr/>
        </p:nvSpPr>
        <p:spPr>
          <a:xfrm>
            <a:off x="777240" y="2029968"/>
            <a:ext cx="4754880" cy="365760"/>
          </a:xfrm>
          <a:prstGeom prst="rect">
            <a:avLst/>
          </a:prstGeom>
          <a:noFill/>
          <a:ln/>
        </p:spPr>
        <p:txBody>
          <a:bodyPr wrap="square" rtlCol="0" anchor="ctr"/>
          <a:lstStyle/>
          <a:p>
            <a:pPr marL="0" indent="0">
              <a:buNone/>
            </a:pPr>
            <a:r>
              <a:rPr lang="en-US" sz="1600" b="1" dirty="0">
                <a:solidFill>
                  <a:srgbClr val="4FC3F7"/>
                </a:solidFill>
                <a:latin typeface="Cambria" pitchFamily="34" charset="0"/>
                <a:ea typeface="Cambria" pitchFamily="34" charset="-122"/>
                <a:cs typeface="Cambria" pitchFamily="34" charset="-120"/>
              </a:rPr>
              <a:t>Komponenty</a:t>
            </a:r>
            <a:endParaRPr lang="en-US" sz="1600" dirty="0"/>
          </a:p>
        </p:txBody>
      </p:sp>
      <p:sp>
        <p:nvSpPr>
          <p:cNvPr id="9" name="Shape 7"/>
          <p:cNvSpPr/>
          <p:nvPr/>
        </p:nvSpPr>
        <p:spPr>
          <a:xfrm>
            <a:off x="822960" y="2532888"/>
            <a:ext cx="320040" cy="320040"/>
          </a:xfrm>
          <a:prstGeom prst="ellipse">
            <a:avLst/>
          </a:prstGeom>
          <a:solidFill>
            <a:srgbClr val="4FC3F7"/>
          </a:solidFill>
          <a:ln/>
        </p:spPr>
        <p:txBody>
          <a:bodyPr/>
          <a:lstStyle/>
          <a:p>
            <a:endParaRPr lang="en-GB"/>
          </a:p>
        </p:txBody>
      </p:sp>
      <p:sp>
        <p:nvSpPr>
          <p:cNvPr id="10" name="Text 8"/>
          <p:cNvSpPr/>
          <p:nvPr/>
        </p:nvSpPr>
        <p:spPr>
          <a:xfrm>
            <a:off x="822960" y="2532888"/>
            <a:ext cx="320040" cy="32004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11" name="Text 9"/>
          <p:cNvSpPr/>
          <p:nvPr/>
        </p:nvSpPr>
        <p:spPr>
          <a:xfrm>
            <a:off x="1280160" y="2468880"/>
            <a:ext cx="4343400" cy="365760"/>
          </a:xfrm>
          <a:prstGeom prst="rect">
            <a:avLst/>
          </a:prstGeom>
          <a:noFill/>
          <a:ln/>
        </p:spPr>
        <p:txBody>
          <a:bodyPr wrap="square" rtlCol="0" anchor="ctr"/>
          <a:lstStyle/>
          <a:p>
            <a:pPr marL="0" indent="0">
              <a:buNone/>
            </a:pPr>
            <a:r>
              <a:rPr lang="en-US" sz="1300" b="1" dirty="0">
                <a:solidFill>
                  <a:srgbClr val="E6EDF3"/>
                </a:solidFill>
                <a:latin typeface="Courier New" pitchFamily="34" charset="0"/>
                <a:ea typeface="Courier New" pitchFamily="34" charset="-122"/>
                <a:cs typeface="Courier New" pitchFamily="34" charset="-120"/>
              </a:rPr>
              <a:t>PageReadItem.jsx</a:t>
            </a:r>
            <a:endParaRPr lang="en-US" sz="1300" dirty="0"/>
          </a:p>
        </p:txBody>
      </p:sp>
      <p:sp>
        <p:nvSpPr>
          <p:cNvPr id="12" name="Text 10"/>
          <p:cNvSpPr/>
          <p:nvPr/>
        </p:nvSpPr>
        <p:spPr>
          <a:xfrm>
            <a:off x="1280160" y="2807208"/>
            <a:ext cx="4343400" cy="365760"/>
          </a:xfrm>
          <a:prstGeom prst="rect">
            <a:avLst/>
          </a:prstGeom>
          <a:noFill/>
          <a:ln/>
        </p:spPr>
        <p:txBody>
          <a:bodyPr wrap="square" rtlCol="0" anchor="ctr"/>
          <a:lstStyle/>
          <a:p>
            <a:pPr marL="0" indent="0">
              <a:buNone/>
            </a:pPr>
            <a:r>
              <a:rPr lang="en-US" sz="1200" dirty="0">
                <a:solidFill>
                  <a:srgbClr val="8B98AC"/>
                </a:solidFill>
                <a:latin typeface="Calibri" pitchFamily="34" charset="0"/>
                <a:ea typeface="Calibri" pitchFamily="34" charset="-122"/>
                <a:cs typeface="Calibri" pitchFamily="34" charset="-120"/>
              </a:rPr>
              <a:t>vstupní readonly stránka</a:t>
            </a:r>
            <a:endParaRPr lang="en-US" sz="1200" dirty="0"/>
          </a:p>
        </p:txBody>
      </p:sp>
      <p:sp>
        <p:nvSpPr>
          <p:cNvPr id="13" name="Shape 11"/>
          <p:cNvSpPr/>
          <p:nvPr/>
        </p:nvSpPr>
        <p:spPr>
          <a:xfrm>
            <a:off x="822960" y="3374136"/>
            <a:ext cx="320040" cy="320040"/>
          </a:xfrm>
          <a:prstGeom prst="ellipse">
            <a:avLst/>
          </a:prstGeom>
          <a:solidFill>
            <a:srgbClr val="4FC3F7"/>
          </a:solidFill>
          <a:ln/>
        </p:spPr>
        <p:txBody>
          <a:bodyPr/>
          <a:lstStyle/>
          <a:p>
            <a:endParaRPr lang="en-GB"/>
          </a:p>
        </p:txBody>
      </p:sp>
      <p:sp>
        <p:nvSpPr>
          <p:cNvPr id="14" name="Text 12"/>
          <p:cNvSpPr/>
          <p:nvPr/>
        </p:nvSpPr>
        <p:spPr>
          <a:xfrm>
            <a:off x="822960" y="3374136"/>
            <a:ext cx="320040" cy="32004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15" name="Text 13"/>
          <p:cNvSpPr/>
          <p:nvPr/>
        </p:nvSpPr>
        <p:spPr>
          <a:xfrm>
            <a:off x="1280160" y="3310128"/>
            <a:ext cx="4343400" cy="365760"/>
          </a:xfrm>
          <a:prstGeom prst="rect">
            <a:avLst/>
          </a:prstGeom>
          <a:noFill/>
          <a:ln/>
        </p:spPr>
        <p:txBody>
          <a:bodyPr wrap="square" rtlCol="0" anchor="ctr"/>
          <a:lstStyle/>
          <a:p>
            <a:pPr marL="0" indent="0">
              <a:buNone/>
            </a:pPr>
            <a:r>
              <a:rPr lang="en-US" sz="1300" b="1" dirty="0">
                <a:solidFill>
                  <a:srgbClr val="E6EDF3"/>
                </a:solidFill>
                <a:latin typeface="Courier New" pitchFamily="34" charset="0"/>
                <a:ea typeface="Courier New" pitchFamily="34" charset="-122"/>
                <a:cs typeface="Courier New" pitchFamily="34" charset="-120"/>
              </a:rPr>
              <a:t>SubjectSubPage.jsx</a:t>
            </a:r>
            <a:endParaRPr lang="en-US" sz="1300" dirty="0"/>
          </a:p>
        </p:txBody>
      </p:sp>
      <p:sp>
        <p:nvSpPr>
          <p:cNvPr id="16" name="Text 14"/>
          <p:cNvSpPr/>
          <p:nvPr/>
        </p:nvSpPr>
        <p:spPr>
          <a:xfrm>
            <a:off x="1280160" y="3648456"/>
            <a:ext cx="4343400" cy="365760"/>
          </a:xfrm>
          <a:prstGeom prst="rect">
            <a:avLst/>
          </a:prstGeom>
          <a:noFill/>
          <a:ln/>
        </p:spPr>
        <p:txBody>
          <a:bodyPr wrap="square" rtlCol="0" anchor="ctr"/>
          <a:lstStyle/>
          <a:p>
            <a:pPr marL="0" indent="0">
              <a:buNone/>
            </a:pPr>
            <a:r>
              <a:rPr lang="en-US" sz="1200" dirty="0">
                <a:solidFill>
                  <a:srgbClr val="8B98AC"/>
                </a:solidFill>
                <a:latin typeface="Calibri" pitchFamily="34" charset="0"/>
                <a:ea typeface="Calibri" pitchFamily="34" charset="-122"/>
                <a:cs typeface="Calibri" pitchFamily="34" charset="-120"/>
              </a:rPr>
              <a:t>detail: program + tabulka semestrů</a:t>
            </a:r>
            <a:endParaRPr lang="en-US" sz="1200" dirty="0"/>
          </a:p>
        </p:txBody>
      </p:sp>
      <p:sp>
        <p:nvSpPr>
          <p:cNvPr id="17" name="Shape 15"/>
          <p:cNvSpPr/>
          <p:nvPr/>
        </p:nvSpPr>
        <p:spPr>
          <a:xfrm>
            <a:off x="822960" y="4215384"/>
            <a:ext cx="320040" cy="320040"/>
          </a:xfrm>
          <a:prstGeom prst="ellipse">
            <a:avLst/>
          </a:prstGeom>
          <a:solidFill>
            <a:srgbClr val="4FC3F7"/>
          </a:solidFill>
          <a:ln/>
        </p:spPr>
        <p:txBody>
          <a:bodyPr/>
          <a:lstStyle/>
          <a:p>
            <a:endParaRPr lang="en-GB"/>
          </a:p>
        </p:txBody>
      </p:sp>
      <p:sp>
        <p:nvSpPr>
          <p:cNvPr id="18" name="Text 16"/>
          <p:cNvSpPr/>
          <p:nvPr/>
        </p:nvSpPr>
        <p:spPr>
          <a:xfrm>
            <a:off x="822960" y="4215384"/>
            <a:ext cx="320040" cy="32004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19" name="Text 17"/>
          <p:cNvSpPr/>
          <p:nvPr/>
        </p:nvSpPr>
        <p:spPr>
          <a:xfrm>
            <a:off x="1280160" y="4151376"/>
            <a:ext cx="4343400" cy="365760"/>
          </a:xfrm>
          <a:prstGeom prst="rect">
            <a:avLst/>
          </a:prstGeom>
          <a:noFill/>
          <a:ln/>
        </p:spPr>
        <p:txBody>
          <a:bodyPr wrap="square" rtlCol="0" anchor="ctr"/>
          <a:lstStyle/>
          <a:p>
            <a:pPr marL="0" indent="0">
              <a:buNone/>
            </a:pPr>
            <a:r>
              <a:rPr lang="en-US" sz="1300" b="1" dirty="0">
                <a:solidFill>
                  <a:srgbClr val="E6EDF3"/>
                </a:solidFill>
                <a:latin typeface="Courier New" pitchFamily="34" charset="0"/>
                <a:ea typeface="Courier New" pitchFamily="34" charset="-122"/>
                <a:cs typeface="Courier New" pitchFamily="34" charset="-120"/>
              </a:rPr>
              <a:t>MediumContent.jsx</a:t>
            </a:r>
            <a:endParaRPr lang="en-US" sz="1300" dirty="0"/>
          </a:p>
        </p:txBody>
      </p:sp>
      <p:sp>
        <p:nvSpPr>
          <p:cNvPr id="20" name="Text 18"/>
          <p:cNvSpPr/>
          <p:nvPr/>
        </p:nvSpPr>
        <p:spPr>
          <a:xfrm>
            <a:off x="1280160" y="4489704"/>
            <a:ext cx="4343400" cy="365760"/>
          </a:xfrm>
          <a:prstGeom prst="rect">
            <a:avLst/>
          </a:prstGeom>
          <a:noFill/>
          <a:ln/>
        </p:spPr>
        <p:txBody>
          <a:bodyPr wrap="square" rtlCol="0" anchor="ctr"/>
          <a:lstStyle/>
          <a:p>
            <a:pPr marL="0" indent="0">
              <a:buNone/>
            </a:pPr>
            <a:r>
              <a:rPr lang="en-US" sz="1200" dirty="0">
                <a:solidFill>
                  <a:srgbClr val="8B98AC"/>
                </a:solidFill>
                <a:latin typeface="Calibri" pitchFamily="34" charset="0"/>
                <a:ea typeface="Calibri" pitchFamily="34" charset="-122"/>
                <a:cs typeface="Calibri" pitchFamily="34" charset="-120"/>
              </a:rPr>
              <a:t>readonly zobrazení polí entity</a:t>
            </a:r>
            <a:endParaRPr lang="en-US" sz="1200" dirty="0"/>
          </a:p>
        </p:txBody>
      </p:sp>
      <p:sp>
        <p:nvSpPr>
          <p:cNvPr id="21" name="Shape 19"/>
          <p:cNvSpPr/>
          <p:nvPr/>
        </p:nvSpPr>
        <p:spPr>
          <a:xfrm>
            <a:off x="822960" y="5056632"/>
            <a:ext cx="320040" cy="320040"/>
          </a:xfrm>
          <a:prstGeom prst="ellipse">
            <a:avLst/>
          </a:prstGeom>
          <a:solidFill>
            <a:srgbClr val="4FC3F7"/>
          </a:solidFill>
          <a:ln/>
        </p:spPr>
        <p:txBody>
          <a:bodyPr/>
          <a:lstStyle/>
          <a:p>
            <a:endParaRPr lang="en-GB"/>
          </a:p>
        </p:txBody>
      </p:sp>
      <p:sp>
        <p:nvSpPr>
          <p:cNvPr id="22" name="Text 20"/>
          <p:cNvSpPr/>
          <p:nvPr/>
        </p:nvSpPr>
        <p:spPr>
          <a:xfrm>
            <a:off x="822960" y="5056632"/>
            <a:ext cx="320040" cy="32004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23" name="Text 21"/>
          <p:cNvSpPr/>
          <p:nvPr/>
        </p:nvSpPr>
        <p:spPr>
          <a:xfrm>
            <a:off x="1280160" y="4992624"/>
            <a:ext cx="4343400" cy="365760"/>
          </a:xfrm>
          <a:prstGeom prst="rect">
            <a:avLst/>
          </a:prstGeom>
          <a:noFill/>
          <a:ln/>
        </p:spPr>
        <p:txBody>
          <a:bodyPr wrap="square" rtlCol="0" anchor="ctr"/>
          <a:lstStyle/>
          <a:p>
            <a:pPr marL="0" indent="0">
              <a:buNone/>
            </a:pPr>
            <a:r>
              <a:rPr lang="en-US" sz="1300" b="1" dirty="0">
                <a:solidFill>
                  <a:srgbClr val="E6EDF3"/>
                </a:solidFill>
                <a:latin typeface="Courier New" pitchFamily="34" charset="0"/>
                <a:ea typeface="Courier New" pitchFamily="34" charset="-122"/>
                <a:cs typeface="Courier New" pitchFamily="34" charset="-120"/>
              </a:rPr>
              <a:t>Link.jsx</a:t>
            </a:r>
            <a:endParaRPr lang="en-US" sz="1300" dirty="0"/>
          </a:p>
        </p:txBody>
      </p:sp>
      <p:sp>
        <p:nvSpPr>
          <p:cNvPr id="24" name="Text 22"/>
          <p:cNvSpPr/>
          <p:nvPr/>
        </p:nvSpPr>
        <p:spPr>
          <a:xfrm>
            <a:off x="1280160" y="5330952"/>
            <a:ext cx="4343400" cy="365760"/>
          </a:xfrm>
          <a:prstGeom prst="rect">
            <a:avLst/>
          </a:prstGeom>
          <a:noFill/>
          <a:ln/>
        </p:spPr>
        <p:txBody>
          <a:bodyPr wrap="square" rtlCol="0" anchor="ctr"/>
          <a:lstStyle/>
          <a:p>
            <a:pPr marL="0" indent="0">
              <a:buNone/>
            </a:pPr>
            <a:r>
              <a:rPr lang="en-US" sz="1200" dirty="0">
                <a:solidFill>
                  <a:srgbClr val="8B98AC"/>
                </a:solidFill>
                <a:latin typeface="Calibri" pitchFamily="34" charset="0"/>
                <a:ea typeface="Calibri" pitchFamily="34" charset="-122"/>
                <a:cs typeface="Calibri" pitchFamily="34" charset="-120"/>
              </a:rPr>
              <a:t>odkaz na detail z tabulky</a:t>
            </a:r>
            <a:endParaRPr lang="en-US" sz="1200" dirty="0"/>
          </a:p>
        </p:txBody>
      </p:sp>
      <p:sp>
        <p:nvSpPr>
          <p:cNvPr id="25" name="Shape 23"/>
          <p:cNvSpPr/>
          <p:nvPr/>
        </p:nvSpPr>
        <p:spPr>
          <a:xfrm>
            <a:off x="6035040" y="1874520"/>
            <a:ext cx="5577840" cy="4206240"/>
          </a:xfrm>
          <a:prstGeom prst="roundRect">
            <a:avLst>
              <a:gd name="adj" fmla="val 1304"/>
            </a:avLst>
          </a:prstGeom>
          <a:solidFill>
            <a:srgbClr val="10161F"/>
          </a:solidFill>
          <a:ln w="12700">
            <a:solidFill>
              <a:srgbClr val="2C3A52"/>
            </a:solidFill>
            <a:prstDash val="solid"/>
          </a:ln>
        </p:spPr>
        <p:txBody>
          <a:bodyPr/>
          <a:lstStyle/>
          <a:p>
            <a:endParaRPr lang="en-GB"/>
          </a:p>
        </p:txBody>
      </p:sp>
      <p:sp>
        <p:nvSpPr>
          <p:cNvPr id="26" name="Text 24"/>
          <p:cNvSpPr/>
          <p:nvPr/>
        </p:nvSpPr>
        <p:spPr>
          <a:xfrm>
            <a:off x="6144768" y="1947672"/>
            <a:ext cx="5358384" cy="4059936"/>
          </a:xfrm>
          <a:prstGeom prst="rect">
            <a:avLst/>
          </a:prstGeom>
          <a:noFill/>
          <a:ln/>
        </p:spPr>
        <p:txBody>
          <a:bodyPr wrap="square" lIns="0" tIns="0" rIns="0" bIns="0" rtlCol="0" anchor="t"/>
          <a:lstStyle/>
          <a:p>
            <a:pPr marL="0" indent="0" algn="l">
              <a:lnSpc>
                <a:spcPct val="105000"/>
              </a:lnSpc>
              <a:buNone/>
            </a:pPr>
            <a:r>
              <a:rPr lang="en-US" sz="1150" dirty="0">
                <a:solidFill>
                  <a:srgbClr val="8B98AC"/>
                </a:solidFill>
                <a:latin typeface="Courier New" pitchFamily="34" charset="0"/>
                <a:ea typeface="Courier New" pitchFamily="34" charset="-122"/>
                <a:cs typeface="Courier New" pitchFamily="34" charset="-120"/>
              </a:rPr>
              <a:t>// vykreslí jen pole s hodnotou</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{item?.name &amp;&amp;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&lt;Attribute label="Název"&gt;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&lt;Link item={item} /&gt;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&lt;/Attribute&gt;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marL="0" indent="0" algn="l">
              <a:lnSpc>
                <a:spcPct val="105000"/>
              </a:lnSpc>
              <a:buNone/>
            </a:pPr>
            <a:r>
              <a:rPr lang="en-US" sz="1150" dirty="0">
                <a:solidFill>
                  <a:srgbClr val="8B98AC"/>
                </a:solidFill>
                <a:latin typeface="Courier New" pitchFamily="34" charset="0"/>
                <a:ea typeface="Courier New" pitchFamily="34" charset="-122"/>
                <a:cs typeface="Courier New" pitchFamily="34" charset="-120"/>
              </a:rPr>
              <a:t>// tabulka semestrů seřazená dle order</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{[...item.semesters]</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.sort((a,b) =&gt; a.order - b.order)</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.map(sem =&gt;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&lt;tr key={sem.id}&gt;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&lt;td&gt;{getSemesterName(sem.order)}&lt;/td&gt;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&lt;/tr&gt;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rtlCol="0" anchor="ctr"/>
          <a:lstStyle/>
          <a:p>
            <a:pPr marL="0" indent="0">
              <a:buNone/>
            </a:pPr>
            <a:r>
              <a:rPr lang="en-US" sz="1200" b="1" kern="0" spc="200" dirty="0">
                <a:solidFill>
                  <a:srgbClr val="4FC3F7"/>
                </a:solidFill>
                <a:latin typeface="Calibri" pitchFamily="34" charset="0"/>
                <a:ea typeface="Calibri" pitchFamily="34" charset="-122"/>
                <a:cs typeface="Calibri" pitchFamily="34" charset="-120"/>
              </a:rPr>
              <a:t>READ · SEZNAM</a:t>
            </a:r>
            <a:endParaRPr lang="en-US" sz="1200" dirty="0"/>
          </a:p>
        </p:txBody>
      </p:sp>
      <p:sp>
        <p:nvSpPr>
          <p:cNvPr id="3" name="Text 1"/>
          <p:cNvSpPr/>
          <p:nvPr/>
        </p:nvSpPr>
        <p:spPr>
          <a:xfrm>
            <a:off x="548640" y="640080"/>
            <a:ext cx="11064240" cy="68580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Seznam předmětů — tabulka, řazení, infinite scroll</a:t>
            </a:r>
            <a:endParaRPr lang="en-US" sz="3000" dirty="0"/>
          </a:p>
        </p:txBody>
      </p:sp>
      <p:sp>
        <p:nvSpPr>
          <p:cNvPr id="4" name="Text 2"/>
          <p:cNvSpPr/>
          <p:nvPr/>
        </p:nvSpPr>
        <p:spPr>
          <a:xfrm>
            <a:off x="548640" y="1417320"/>
            <a:ext cx="11155680" cy="365760"/>
          </a:xfrm>
          <a:prstGeom prst="rect">
            <a:avLst/>
          </a:prstGeom>
          <a:noFill/>
          <a:ln/>
        </p:spPr>
        <p:txBody>
          <a:bodyPr wrap="square" rtlCol="0" anchor="ctr"/>
          <a:lstStyle/>
          <a:p>
            <a:pPr marL="0" indent="0">
              <a:buNone/>
            </a:pPr>
            <a:r>
              <a:rPr lang="en-US" sz="1400" dirty="0">
                <a:solidFill>
                  <a:srgbClr val="8B98AC"/>
                </a:solidFill>
                <a:latin typeface="Calibri" pitchFamily="34" charset="0"/>
                <a:ea typeface="Calibri" pitchFamily="34" charset="-122"/>
                <a:cs typeface="Calibri" pitchFamily="34" charset="-120"/>
              </a:rPr>
              <a:t>PageVector + Table: řaditelné sloupce, donačítání dat a akce (Detail / Editovat / Smazat).</a:t>
            </a:r>
            <a:endParaRPr lang="en-US" sz="1400" dirty="0"/>
          </a:p>
        </p:txBody>
      </p:sp>
      <p:sp>
        <p:nvSpPr>
          <p:cNvPr id="5" name="Shape 3"/>
          <p:cNvSpPr/>
          <p:nvPr/>
        </p:nvSpPr>
        <p:spPr>
          <a:xfrm>
            <a:off x="548640" y="1920240"/>
            <a:ext cx="6400800" cy="4160520"/>
          </a:xfrm>
          <a:prstGeom prst="roundRect">
            <a:avLst>
              <a:gd name="adj" fmla="val 1319"/>
            </a:avLst>
          </a:prstGeom>
          <a:solidFill>
            <a:srgbClr val="10161F"/>
          </a:solidFill>
          <a:ln w="12700">
            <a:solidFill>
              <a:srgbClr val="2C3A52"/>
            </a:solidFill>
            <a:prstDash val="solid"/>
          </a:ln>
        </p:spPr>
        <p:txBody>
          <a:bodyPr/>
          <a:lstStyle/>
          <a:p>
            <a:endParaRPr lang="en-GB"/>
          </a:p>
        </p:txBody>
      </p:sp>
      <p:sp>
        <p:nvSpPr>
          <p:cNvPr id="6" name="Text 4"/>
          <p:cNvSpPr/>
          <p:nvPr/>
        </p:nvSpPr>
        <p:spPr>
          <a:xfrm>
            <a:off x="658368" y="1993392"/>
            <a:ext cx="6181344" cy="4014216"/>
          </a:xfrm>
          <a:prstGeom prst="rect">
            <a:avLst/>
          </a:prstGeom>
          <a:noFill/>
          <a:ln/>
        </p:spPr>
        <p:txBody>
          <a:bodyPr wrap="square" lIns="0" tIns="0" rIns="0" bIns="0" rtlCol="0" anchor="t"/>
          <a:lstStyle/>
          <a:p>
            <a:pPr marL="0" indent="0" algn="l">
              <a:lnSpc>
                <a:spcPct val="105000"/>
              </a:lnSpc>
              <a:buNone/>
            </a:pPr>
            <a:r>
              <a:rPr lang="en-US" sz="1150" dirty="0">
                <a:solidFill>
                  <a:srgbClr val="8B98AC"/>
                </a:solidFill>
                <a:latin typeface="Courier New" pitchFamily="34" charset="0"/>
                <a:ea typeface="Courier New" pitchFamily="34" charset="-122"/>
                <a:cs typeface="Courier New" pitchFamily="34" charset="-120"/>
              </a:rPr>
              <a:t>// definice sloupců tabulky</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name:     { label: 'Název', ...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program:  { label: 'Program', ...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semesters:{ label: 'Semestrů',</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component: ({row}) =&gt;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&lt;td&gt;{row?.semesters?.length}&lt;/td&gt;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marL="0" indent="0" algn="l">
              <a:lnSpc>
                <a:spcPct val="105000"/>
              </a:lnSpc>
              <a:buNone/>
            </a:pPr>
            <a:r>
              <a:rPr lang="en-US" sz="1150" dirty="0">
                <a:solidFill>
                  <a:srgbClr val="8B98AC"/>
                </a:solidFill>
                <a:latin typeface="Courier New" pitchFamily="34" charset="0"/>
                <a:ea typeface="Courier New" pitchFamily="34" charset="-122"/>
                <a:cs typeface="Courier New" pitchFamily="34" charset="-120"/>
              </a:rPr>
              <a:t>// infinite scroll přes hook</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const { items, hasMore, sentinelRef,</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loadMore } = useInfiniteScroll({</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asyncAction: ReadPageAsyncAction,</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actionParams: { skip: 0, limit: 25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
        <p:nvSpPr>
          <p:cNvPr id="7" name="Shape 5"/>
          <p:cNvSpPr/>
          <p:nvPr/>
        </p:nvSpPr>
        <p:spPr>
          <a:xfrm>
            <a:off x="7223760" y="1920240"/>
            <a:ext cx="4389120" cy="4160520"/>
          </a:xfrm>
          <a:prstGeom prst="roundRect">
            <a:avLst>
              <a:gd name="adj" fmla="val 2198"/>
            </a:avLst>
          </a:prstGeom>
          <a:solidFill>
            <a:srgbClr val="1B2333"/>
          </a:solidFill>
          <a:ln w="12700">
            <a:solidFill>
              <a:srgbClr val="2C3A52"/>
            </a:solidFill>
            <a:prstDash val="solid"/>
          </a:ln>
        </p:spPr>
        <p:txBody>
          <a:bodyPr/>
          <a:lstStyle/>
          <a:p>
            <a:endParaRPr lang="en-GB"/>
          </a:p>
        </p:txBody>
      </p:sp>
      <p:sp>
        <p:nvSpPr>
          <p:cNvPr id="8" name="Text 6"/>
          <p:cNvSpPr/>
          <p:nvPr/>
        </p:nvSpPr>
        <p:spPr>
          <a:xfrm>
            <a:off x="7452360" y="2103120"/>
            <a:ext cx="3931920" cy="365760"/>
          </a:xfrm>
          <a:prstGeom prst="rect">
            <a:avLst/>
          </a:prstGeom>
          <a:noFill/>
          <a:ln/>
        </p:spPr>
        <p:txBody>
          <a:bodyPr wrap="square" rtlCol="0" anchor="ctr"/>
          <a:lstStyle/>
          <a:p>
            <a:pPr marL="0" indent="0">
              <a:buNone/>
            </a:pPr>
            <a:r>
              <a:rPr lang="en-US" sz="1600" b="1" dirty="0">
                <a:solidFill>
                  <a:srgbClr val="E6EDF3"/>
                </a:solidFill>
                <a:latin typeface="Cambria" pitchFamily="34" charset="0"/>
                <a:ea typeface="Cambria" pitchFamily="34" charset="-122"/>
                <a:cs typeface="Cambria" pitchFamily="34" charset="-120"/>
              </a:rPr>
              <a:t>Funkce seznamu</a:t>
            </a:r>
            <a:endParaRPr lang="en-US" sz="1600" dirty="0"/>
          </a:p>
        </p:txBody>
      </p:sp>
      <p:sp>
        <p:nvSpPr>
          <p:cNvPr id="9" name="Shape 7"/>
          <p:cNvSpPr/>
          <p:nvPr/>
        </p:nvSpPr>
        <p:spPr>
          <a:xfrm>
            <a:off x="7452360" y="2606040"/>
            <a:ext cx="365760" cy="365760"/>
          </a:xfrm>
          <a:prstGeom prst="ellipse">
            <a:avLst/>
          </a:prstGeom>
          <a:solidFill>
            <a:srgbClr val="4FC3F7"/>
          </a:solidFill>
          <a:ln/>
        </p:spPr>
        <p:txBody>
          <a:bodyPr/>
          <a:lstStyle/>
          <a:p>
            <a:endParaRPr lang="en-GB"/>
          </a:p>
        </p:txBody>
      </p:sp>
      <p:sp>
        <p:nvSpPr>
          <p:cNvPr id="10" name="Text 8"/>
          <p:cNvSpPr/>
          <p:nvPr/>
        </p:nvSpPr>
        <p:spPr>
          <a:xfrm>
            <a:off x="7452360" y="2606040"/>
            <a:ext cx="365760" cy="36576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11" name="Text 9"/>
          <p:cNvSpPr/>
          <p:nvPr/>
        </p:nvSpPr>
        <p:spPr>
          <a:xfrm>
            <a:off x="7955280" y="2560320"/>
            <a:ext cx="3520440" cy="365760"/>
          </a:xfrm>
          <a:prstGeom prst="rect">
            <a:avLst/>
          </a:prstGeom>
          <a:noFill/>
          <a:ln/>
        </p:spPr>
        <p:txBody>
          <a:bodyPr wrap="square" rtlCol="0" anchor="ctr"/>
          <a:lstStyle/>
          <a:p>
            <a:pPr marL="0" indent="0">
              <a:buNone/>
            </a:pPr>
            <a:r>
              <a:rPr lang="en-US" sz="1450" b="1" dirty="0">
                <a:solidFill>
                  <a:srgbClr val="4FC3F7"/>
                </a:solidFill>
                <a:latin typeface="Cambria" pitchFamily="34" charset="0"/>
                <a:ea typeface="Cambria" pitchFamily="34" charset="-122"/>
                <a:cs typeface="Cambria" pitchFamily="34" charset="-120"/>
              </a:rPr>
              <a:t>Řazení sloupců</a:t>
            </a:r>
            <a:endParaRPr lang="en-US" sz="1450" dirty="0"/>
          </a:p>
        </p:txBody>
      </p:sp>
      <p:sp>
        <p:nvSpPr>
          <p:cNvPr id="12" name="Text 10"/>
          <p:cNvSpPr/>
          <p:nvPr/>
        </p:nvSpPr>
        <p:spPr>
          <a:xfrm>
            <a:off x="7955280" y="2898648"/>
            <a:ext cx="3520440" cy="640080"/>
          </a:xfrm>
          <a:prstGeom prst="rect">
            <a:avLst/>
          </a:prstGeom>
          <a:noFill/>
          <a:ln/>
        </p:spPr>
        <p:txBody>
          <a:bodyPr wrap="square" rtlCol="0" anchor="ctr"/>
          <a:lstStyle/>
          <a:p>
            <a:pPr marL="0" indent="0">
              <a:lnSpc>
                <a:spcPct val="105000"/>
              </a:lnSpc>
              <a:buNone/>
            </a:pPr>
            <a:r>
              <a:rPr lang="en-US" sz="1200" dirty="0">
                <a:solidFill>
                  <a:srgbClr val="8B98AC"/>
                </a:solidFill>
                <a:latin typeface="Calibri" pitchFamily="34" charset="0"/>
                <a:ea typeface="Calibri" pitchFamily="34" charset="-122"/>
                <a:cs typeface="Calibri" pitchFamily="34" charset="-120"/>
              </a:rPr>
              <a:t>server-side i lokální (počet semestrů)</a:t>
            </a:r>
            <a:endParaRPr lang="en-US" sz="1200" dirty="0"/>
          </a:p>
        </p:txBody>
      </p:sp>
      <p:sp>
        <p:nvSpPr>
          <p:cNvPr id="13" name="Shape 11"/>
          <p:cNvSpPr/>
          <p:nvPr/>
        </p:nvSpPr>
        <p:spPr>
          <a:xfrm>
            <a:off x="7452360" y="3703320"/>
            <a:ext cx="365760" cy="365760"/>
          </a:xfrm>
          <a:prstGeom prst="ellipse">
            <a:avLst/>
          </a:prstGeom>
          <a:solidFill>
            <a:srgbClr val="F778BA"/>
          </a:solidFill>
          <a:ln/>
        </p:spPr>
        <p:txBody>
          <a:bodyPr/>
          <a:lstStyle/>
          <a:p>
            <a:endParaRPr lang="en-GB"/>
          </a:p>
        </p:txBody>
      </p:sp>
      <p:sp>
        <p:nvSpPr>
          <p:cNvPr id="14" name="Text 12"/>
          <p:cNvSpPr/>
          <p:nvPr/>
        </p:nvSpPr>
        <p:spPr>
          <a:xfrm>
            <a:off x="7452360" y="3703320"/>
            <a:ext cx="365760" cy="36576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15" name="Text 13"/>
          <p:cNvSpPr/>
          <p:nvPr/>
        </p:nvSpPr>
        <p:spPr>
          <a:xfrm>
            <a:off x="7955280" y="3657600"/>
            <a:ext cx="3520440" cy="365760"/>
          </a:xfrm>
          <a:prstGeom prst="rect">
            <a:avLst/>
          </a:prstGeom>
          <a:noFill/>
          <a:ln/>
        </p:spPr>
        <p:txBody>
          <a:bodyPr wrap="square" rtlCol="0" anchor="ctr"/>
          <a:lstStyle/>
          <a:p>
            <a:pPr marL="0" indent="0">
              <a:buNone/>
            </a:pPr>
            <a:r>
              <a:rPr lang="en-US" sz="1450" b="1" dirty="0">
                <a:solidFill>
                  <a:srgbClr val="F778BA"/>
                </a:solidFill>
                <a:latin typeface="Cambria" pitchFamily="34" charset="0"/>
                <a:ea typeface="Cambria" pitchFamily="34" charset="-122"/>
                <a:cs typeface="Cambria" pitchFamily="34" charset="-120"/>
              </a:rPr>
              <a:t>Infinite scroll</a:t>
            </a:r>
            <a:endParaRPr lang="en-US" sz="1450" dirty="0"/>
          </a:p>
        </p:txBody>
      </p:sp>
      <p:sp>
        <p:nvSpPr>
          <p:cNvPr id="16" name="Text 14"/>
          <p:cNvSpPr/>
          <p:nvPr/>
        </p:nvSpPr>
        <p:spPr>
          <a:xfrm>
            <a:off x="7955280" y="3995928"/>
            <a:ext cx="3520440" cy="640080"/>
          </a:xfrm>
          <a:prstGeom prst="rect">
            <a:avLst/>
          </a:prstGeom>
          <a:noFill/>
          <a:ln/>
        </p:spPr>
        <p:txBody>
          <a:bodyPr wrap="square" rtlCol="0" anchor="ctr"/>
          <a:lstStyle/>
          <a:p>
            <a:pPr marL="0" indent="0">
              <a:lnSpc>
                <a:spcPct val="105000"/>
              </a:lnSpc>
              <a:buNone/>
            </a:pPr>
            <a:r>
              <a:rPr lang="en-US" sz="1200" dirty="0">
                <a:solidFill>
                  <a:srgbClr val="8B98AC"/>
                </a:solidFill>
                <a:latin typeface="Calibri" pitchFamily="34" charset="0"/>
                <a:ea typeface="Calibri" pitchFamily="34" charset="-122"/>
                <a:cs typeface="Calibri" pitchFamily="34" charset="-120"/>
              </a:rPr>
              <a:t>donačítání po 25 přes IntersectionObserver</a:t>
            </a:r>
            <a:endParaRPr lang="en-US" sz="1200" dirty="0"/>
          </a:p>
        </p:txBody>
      </p:sp>
      <p:sp>
        <p:nvSpPr>
          <p:cNvPr id="17" name="Shape 15"/>
          <p:cNvSpPr/>
          <p:nvPr/>
        </p:nvSpPr>
        <p:spPr>
          <a:xfrm>
            <a:off x="7452360" y="4800600"/>
            <a:ext cx="365760" cy="365760"/>
          </a:xfrm>
          <a:prstGeom prst="ellipse">
            <a:avLst/>
          </a:prstGeom>
          <a:solidFill>
            <a:srgbClr val="7EE787"/>
          </a:solidFill>
          <a:ln/>
        </p:spPr>
        <p:txBody>
          <a:bodyPr/>
          <a:lstStyle/>
          <a:p>
            <a:endParaRPr lang="en-GB"/>
          </a:p>
        </p:txBody>
      </p:sp>
      <p:sp>
        <p:nvSpPr>
          <p:cNvPr id="18" name="Text 16"/>
          <p:cNvSpPr/>
          <p:nvPr/>
        </p:nvSpPr>
        <p:spPr>
          <a:xfrm>
            <a:off x="7452360" y="4800600"/>
            <a:ext cx="365760" cy="36576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19" name="Text 17"/>
          <p:cNvSpPr/>
          <p:nvPr/>
        </p:nvSpPr>
        <p:spPr>
          <a:xfrm>
            <a:off x="7955280" y="4754880"/>
            <a:ext cx="3520440" cy="365760"/>
          </a:xfrm>
          <a:prstGeom prst="rect">
            <a:avLst/>
          </a:prstGeom>
          <a:noFill/>
          <a:ln/>
        </p:spPr>
        <p:txBody>
          <a:bodyPr wrap="square" rtlCol="0" anchor="ctr"/>
          <a:lstStyle/>
          <a:p>
            <a:pPr marL="0" indent="0">
              <a:buNone/>
            </a:pPr>
            <a:r>
              <a:rPr lang="en-US" sz="1450" b="1" dirty="0">
                <a:solidFill>
                  <a:srgbClr val="7EE787"/>
                </a:solidFill>
                <a:latin typeface="Cambria" pitchFamily="34" charset="0"/>
                <a:ea typeface="Cambria" pitchFamily="34" charset="-122"/>
                <a:cs typeface="Cambria" pitchFamily="34" charset="-120"/>
              </a:rPr>
              <a:t>Akce v řádku</a:t>
            </a:r>
            <a:endParaRPr lang="en-US" sz="1450" dirty="0"/>
          </a:p>
        </p:txBody>
      </p:sp>
      <p:sp>
        <p:nvSpPr>
          <p:cNvPr id="20" name="Text 18"/>
          <p:cNvSpPr/>
          <p:nvPr/>
        </p:nvSpPr>
        <p:spPr>
          <a:xfrm>
            <a:off x="7955280" y="5093208"/>
            <a:ext cx="3520440" cy="640080"/>
          </a:xfrm>
          <a:prstGeom prst="rect">
            <a:avLst/>
          </a:prstGeom>
          <a:noFill/>
          <a:ln/>
        </p:spPr>
        <p:txBody>
          <a:bodyPr wrap="square" rtlCol="0" anchor="ctr"/>
          <a:lstStyle/>
          <a:p>
            <a:pPr marL="0" indent="0">
              <a:lnSpc>
                <a:spcPct val="105000"/>
              </a:lnSpc>
              <a:buNone/>
            </a:pPr>
            <a:r>
              <a:rPr lang="en-US" sz="1200" dirty="0">
                <a:solidFill>
                  <a:srgbClr val="8B98AC"/>
                </a:solidFill>
                <a:latin typeface="Calibri" pitchFamily="34" charset="0"/>
                <a:ea typeface="Calibri" pitchFamily="34" charset="-122"/>
                <a:cs typeface="Calibri" pitchFamily="34" charset="-120"/>
              </a:rPr>
              <a:t>Detail · Editovat · Smazat (KebabMenu)</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rtlCol="0" anchor="ctr"/>
          <a:lstStyle/>
          <a:p>
            <a:pPr marL="0" indent="0">
              <a:buNone/>
            </a:pPr>
            <a:r>
              <a:rPr lang="en-US" sz="1200" b="1" kern="0" spc="200" dirty="0">
                <a:solidFill>
                  <a:srgbClr val="F778BA"/>
                </a:solidFill>
                <a:latin typeface="Calibri" pitchFamily="34" charset="0"/>
                <a:ea typeface="Calibri" pitchFamily="34" charset="-122"/>
                <a:cs typeface="Calibri" pitchFamily="34" charset="-120"/>
              </a:rPr>
              <a:t>UPDATE</a:t>
            </a:r>
            <a:endParaRPr lang="en-US" sz="1200" dirty="0"/>
          </a:p>
        </p:txBody>
      </p:sp>
      <p:sp>
        <p:nvSpPr>
          <p:cNvPr id="3" name="Text 1"/>
          <p:cNvSpPr/>
          <p:nvPr/>
        </p:nvSpPr>
        <p:spPr>
          <a:xfrm>
            <a:off x="548640" y="640080"/>
            <a:ext cx="11064240" cy="68580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Writable stránka — editace předmětu</a:t>
            </a:r>
            <a:endParaRPr lang="en-US" sz="3000" dirty="0"/>
          </a:p>
        </p:txBody>
      </p:sp>
      <p:sp>
        <p:nvSpPr>
          <p:cNvPr id="6" name="Text 4"/>
          <p:cNvSpPr/>
          <p:nvPr/>
        </p:nvSpPr>
        <p:spPr>
          <a:xfrm>
            <a:off x="548640" y="1417320"/>
            <a:ext cx="11247120" cy="365760"/>
          </a:xfrm>
          <a:prstGeom prst="rect">
            <a:avLst/>
          </a:prstGeom>
          <a:noFill/>
          <a:ln/>
        </p:spPr>
        <p:txBody>
          <a:bodyPr wrap="square" rtlCol="0" anchor="ctr"/>
          <a:lstStyle/>
          <a:p>
            <a:pPr marL="0" indent="0">
              <a:buNone/>
            </a:pPr>
            <a:r>
              <a:rPr lang="en-US" sz="1400" dirty="0">
                <a:solidFill>
                  <a:srgbClr val="8B98AC"/>
                </a:solidFill>
                <a:latin typeface="Calibri" pitchFamily="34" charset="0"/>
                <a:ea typeface="Calibri" pitchFamily="34" charset="-122"/>
                <a:cs typeface="Calibri" pitchFamily="34" charset="-120"/>
              </a:rPr>
              <a:t>PageUpdateItem → EditMode → MediumEditableContent · dva režimy ukládání s přepínačem.</a:t>
            </a:r>
            <a:endParaRPr lang="en-US" sz="1400" dirty="0"/>
          </a:p>
        </p:txBody>
      </p:sp>
      <p:sp>
        <p:nvSpPr>
          <p:cNvPr id="7" name="Shape 5"/>
          <p:cNvSpPr/>
          <p:nvPr/>
        </p:nvSpPr>
        <p:spPr>
          <a:xfrm>
            <a:off x="548640" y="1965960"/>
            <a:ext cx="3017520" cy="2880360"/>
          </a:xfrm>
          <a:prstGeom prst="roundRect">
            <a:avLst>
              <a:gd name="adj" fmla="val 3175"/>
            </a:avLst>
          </a:prstGeom>
          <a:solidFill>
            <a:srgbClr val="1B2333"/>
          </a:solidFill>
          <a:ln w="17780">
            <a:solidFill>
              <a:srgbClr val="7EE787"/>
            </a:solidFill>
            <a:prstDash val="solid"/>
          </a:ln>
        </p:spPr>
        <p:txBody>
          <a:bodyPr/>
          <a:lstStyle/>
          <a:p>
            <a:endParaRPr lang="en-GB"/>
          </a:p>
        </p:txBody>
      </p:sp>
      <p:sp>
        <p:nvSpPr>
          <p:cNvPr id="8" name="Text 6"/>
          <p:cNvSpPr/>
          <p:nvPr/>
        </p:nvSpPr>
        <p:spPr>
          <a:xfrm>
            <a:off x="777240" y="2130552"/>
            <a:ext cx="2606040" cy="365760"/>
          </a:xfrm>
          <a:prstGeom prst="rect">
            <a:avLst/>
          </a:prstGeom>
          <a:noFill/>
          <a:ln/>
        </p:spPr>
        <p:txBody>
          <a:bodyPr wrap="square" rtlCol="0" anchor="ctr"/>
          <a:lstStyle/>
          <a:p>
            <a:pPr marL="0" indent="0">
              <a:buNone/>
            </a:pPr>
            <a:r>
              <a:rPr lang="en-US" sz="1200" b="1" dirty="0">
                <a:solidFill>
                  <a:srgbClr val="7EE787"/>
                </a:solidFill>
                <a:latin typeface="Courier New" pitchFamily="34" charset="0"/>
                <a:ea typeface="Courier New" pitchFamily="34" charset="-122"/>
                <a:cs typeface="Courier New" pitchFamily="34" charset="-120"/>
              </a:rPr>
              <a:t>mode = "live"</a:t>
            </a:r>
            <a:endParaRPr lang="en-US" sz="1200" dirty="0"/>
          </a:p>
        </p:txBody>
      </p:sp>
      <p:sp>
        <p:nvSpPr>
          <p:cNvPr id="9" name="Text 7"/>
          <p:cNvSpPr/>
          <p:nvPr/>
        </p:nvSpPr>
        <p:spPr>
          <a:xfrm>
            <a:off x="777240" y="2487168"/>
            <a:ext cx="2606040" cy="457200"/>
          </a:xfrm>
          <a:prstGeom prst="rect">
            <a:avLst/>
          </a:prstGeom>
          <a:noFill/>
          <a:ln/>
        </p:spPr>
        <p:txBody>
          <a:bodyPr wrap="square" rtlCol="0" anchor="ctr"/>
          <a:lstStyle/>
          <a:p>
            <a:pPr marL="0" indent="0">
              <a:buNone/>
            </a:pPr>
            <a:r>
              <a:rPr lang="en-US" sz="1700" b="1" dirty="0">
                <a:solidFill>
                  <a:srgbClr val="E6EDF3"/>
                </a:solidFill>
                <a:latin typeface="Cambria" pitchFamily="34" charset="0"/>
                <a:ea typeface="Cambria" pitchFamily="34" charset="-122"/>
                <a:cs typeface="Cambria" pitchFamily="34" charset="-120"/>
              </a:rPr>
              <a:t>Auto-save</a:t>
            </a:r>
            <a:endParaRPr lang="en-US" sz="1700" dirty="0"/>
          </a:p>
        </p:txBody>
      </p:sp>
      <p:sp>
        <p:nvSpPr>
          <p:cNvPr id="10" name="Text 8"/>
          <p:cNvSpPr/>
          <p:nvPr/>
        </p:nvSpPr>
        <p:spPr>
          <a:xfrm>
            <a:off x="777240" y="3063240"/>
            <a:ext cx="2651760" cy="457200"/>
          </a:xfrm>
          <a:prstGeom prst="rect">
            <a:avLst/>
          </a:prstGeom>
          <a:noFill/>
          <a:ln/>
        </p:spPr>
        <p:txBody>
          <a:bodyPr wrap="square" rtlCol="0" anchor="t"/>
          <a:lstStyle/>
          <a:p>
            <a:pPr marL="0" indent="0">
              <a:buNone/>
            </a:pPr>
            <a:r>
              <a:rPr lang="en-US" sz="1250" dirty="0">
                <a:solidFill>
                  <a:srgbClr val="7EE787"/>
                </a:solidFill>
                <a:latin typeface="Calibri" pitchFamily="34" charset="0"/>
                <a:ea typeface="Calibri" pitchFamily="34" charset="-122"/>
                <a:cs typeface="Calibri" pitchFamily="34" charset="-120"/>
              </a:rPr>
              <a:t>▸ </a:t>
            </a:r>
            <a:r>
              <a:rPr lang="en-US" sz="1250" dirty="0">
                <a:solidFill>
                  <a:srgbClr val="8B98AC"/>
                </a:solidFill>
                <a:latin typeface="Calibri" pitchFamily="34" charset="0"/>
                <a:ea typeface="Calibri" pitchFamily="34" charset="-122"/>
                <a:cs typeface="Calibri" pitchFamily="34" charset="-120"/>
              </a:rPr>
              <a:t>Debounce 800 ms</a:t>
            </a:r>
            <a:endParaRPr lang="en-US" sz="1250" dirty="0"/>
          </a:p>
        </p:txBody>
      </p:sp>
      <p:sp>
        <p:nvSpPr>
          <p:cNvPr id="11" name="Text 9"/>
          <p:cNvSpPr/>
          <p:nvPr/>
        </p:nvSpPr>
        <p:spPr>
          <a:xfrm>
            <a:off x="777240" y="3593592"/>
            <a:ext cx="2651760" cy="457200"/>
          </a:xfrm>
          <a:prstGeom prst="rect">
            <a:avLst/>
          </a:prstGeom>
          <a:noFill/>
          <a:ln/>
        </p:spPr>
        <p:txBody>
          <a:bodyPr wrap="square" rtlCol="0" anchor="t"/>
          <a:lstStyle/>
          <a:p>
            <a:pPr marL="0" indent="0">
              <a:buNone/>
            </a:pPr>
            <a:r>
              <a:rPr lang="en-US" sz="1250" dirty="0">
                <a:solidFill>
                  <a:srgbClr val="7EE787"/>
                </a:solidFill>
                <a:latin typeface="Calibri" pitchFamily="34" charset="0"/>
                <a:ea typeface="Calibri" pitchFamily="34" charset="-122"/>
                <a:cs typeface="Calibri" pitchFamily="34" charset="-120"/>
              </a:rPr>
              <a:t>▸ </a:t>
            </a:r>
            <a:r>
              <a:rPr lang="en-US" sz="1250" dirty="0">
                <a:solidFill>
                  <a:srgbClr val="8B98AC"/>
                </a:solidFill>
                <a:latin typeface="Calibri" pitchFamily="34" charset="0"/>
                <a:ea typeface="Calibri" pitchFamily="34" charset="-122"/>
                <a:cs typeface="Calibri" pitchFamily="34" charset="-120"/>
              </a:rPr>
              <a:t>Ukládá se na pozadí</a:t>
            </a:r>
            <a:endParaRPr lang="en-US" sz="1250" dirty="0"/>
          </a:p>
        </p:txBody>
      </p:sp>
      <p:sp>
        <p:nvSpPr>
          <p:cNvPr id="12" name="Text 10"/>
          <p:cNvSpPr/>
          <p:nvPr/>
        </p:nvSpPr>
        <p:spPr>
          <a:xfrm>
            <a:off x="777240" y="4123944"/>
            <a:ext cx="2651760" cy="457200"/>
          </a:xfrm>
          <a:prstGeom prst="rect">
            <a:avLst/>
          </a:prstGeom>
          <a:noFill/>
          <a:ln/>
        </p:spPr>
        <p:txBody>
          <a:bodyPr wrap="square" rtlCol="0" anchor="t"/>
          <a:lstStyle/>
          <a:p>
            <a:pPr marL="0" indent="0">
              <a:buNone/>
            </a:pPr>
            <a:r>
              <a:rPr lang="en-US" sz="1250" dirty="0">
                <a:solidFill>
                  <a:srgbClr val="7EE787"/>
                </a:solidFill>
                <a:latin typeface="Calibri" pitchFamily="34" charset="0"/>
                <a:ea typeface="Calibri" pitchFamily="34" charset="-122"/>
                <a:cs typeface="Calibri" pitchFamily="34" charset="-120"/>
              </a:rPr>
              <a:t>▸ </a:t>
            </a:r>
            <a:r>
              <a:rPr lang="en-US" sz="1250" dirty="0">
                <a:solidFill>
                  <a:srgbClr val="8B98AC"/>
                </a:solidFill>
                <a:latin typeface="Calibri" pitchFamily="34" charset="0"/>
                <a:ea typeface="Calibri" pitchFamily="34" charset="-122"/>
                <a:cs typeface="Calibri" pitchFamily="34" charset="-120"/>
              </a:rPr>
              <a:t>Indikátor „Ukládám…"</a:t>
            </a:r>
            <a:endParaRPr lang="en-US" sz="1250" dirty="0"/>
          </a:p>
        </p:txBody>
      </p:sp>
      <p:sp>
        <p:nvSpPr>
          <p:cNvPr id="13" name="Shape 11"/>
          <p:cNvSpPr/>
          <p:nvPr/>
        </p:nvSpPr>
        <p:spPr>
          <a:xfrm>
            <a:off x="3794760" y="1965960"/>
            <a:ext cx="3017520" cy="2880360"/>
          </a:xfrm>
          <a:prstGeom prst="roundRect">
            <a:avLst>
              <a:gd name="adj" fmla="val 3175"/>
            </a:avLst>
          </a:prstGeom>
          <a:solidFill>
            <a:srgbClr val="1B2333"/>
          </a:solidFill>
          <a:ln w="17780">
            <a:solidFill>
              <a:srgbClr val="4FC3F7"/>
            </a:solidFill>
            <a:prstDash val="solid"/>
          </a:ln>
        </p:spPr>
        <p:txBody>
          <a:bodyPr/>
          <a:lstStyle/>
          <a:p>
            <a:endParaRPr lang="en-GB"/>
          </a:p>
        </p:txBody>
      </p:sp>
      <p:sp>
        <p:nvSpPr>
          <p:cNvPr id="14" name="Text 12"/>
          <p:cNvSpPr/>
          <p:nvPr/>
        </p:nvSpPr>
        <p:spPr>
          <a:xfrm>
            <a:off x="4023360" y="2130552"/>
            <a:ext cx="2606040" cy="365760"/>
          </a:xfrm>
          <a:prstGeom prst="rect">
            <a:avLst/>
          </a:prstGeom>
          <a:noFill/>
          <a:ln/>
        </p:spPr>
        <p:txBody>
          <a:bodyPr wrap="square" rtlCol="0" anchor="ctr"/>
          <a:lstStyle/>
          <a:p>
            <a:pPr marL="0" indent="0">
              <a:buNone/>
            </a:pPr>
            <a:r>
              <a:rPr lang="en-US" sz="1200" b="1" dirty="0">
                <a:solidFill>
                  <a:srgbClr val="4FC3F7"/>
                </a:solidFill>
                <a:latin typeface="Courier New" pitchFamily="34" charset="0"/>
                <a:ea typeface="Courier New" pitchFamily="34" charset="-122"/>
                <a:cs typeface="Courier New" pitchFamily="34" charset="-120"/>
              </a:rPr>
              <a:t>mode = "confirm"</a:t>
            </a:r>
            <a:endParaRPr lang="en-US" sz="1200" dirty="0"/>
          </a:p>
        </p:txBody>
      </p:sp>
      <p:sp>
        <p:nvSpPr>
          <p:cNvPr id="15" name="Text 13"/>
          <p:cNvSpPr/>
          <p:nvPr/>
        </p:nvSpPr>
        <p:spPr>
          <a:xfrm>
            <a:off x="4023360" y="2487168"/>
            <a:ext cx="2606040" cy="457200"/>
          </a:xfrm>
          <a:prstGeom prst="rect">
            <a:avLst/>
          </a:prstGeom>
          <a:noFill/>
          <a:ln/>
        </p:spPr>
        <p:txBody>
          <a:bodyPr wrap="square" rtlCol="0" anchor="ctr"/>
          <a:lstStyle/>
          <a:p>
            <a:pPr marL="0" indent="0">
              <a:buNone/>
            </a:pPr>
            <a:r>
              <a:rPr lang="en-US" sz="1700" b="1" dirty="0">
                <a:solidFill>
                  <a:srgbClr val="E6EDF3"/>
                </a:solidFill>
                <a:latin typeface="Cambria" pitchFamily="34" charset="0"/>
                <a:ea typeface="Cambria" pitchFamily="34" charset="-122"/>
                <a:cs typeface="Cambria" pitchFamily="34" charset="-120"/>
              </a:rPr>
              <a:t>Manuál</a:t>
            </a:r>
            <a:endParaRPr lang="en-US" sz="1700" dirty="0"/>
          </a:p>
        </p:txBody>
      </p:sp>
      <p:sp>
        <p:nvSpPr>
          <p:cNvPr id="16" name="Text 14"/>
          <p:cNvSpPr/>
          <p:nvPr/>
        </p:nvSpPr>
        <p:spPr>
          <a:xfrm>
            <a:off x="4023360" y="3063240"/>
            <a:ext cx="2651760" cy="457200"/>
          </a:xfrm>
          <a:prstGeom prst="rect">
            <a:avLst/>
          </a:prstGeom>
          <a:noFill/>
          <a:ln/>
        </p:spPr>
        <p:txBody>
          <a:bodyPr wrap="square" rtlCol="0" anchor="t"/>
          <a:lstStyle/>
          <a:p>
            <a:pPr marL="0" indent="0">
              <a:buNone/>
            </a:pPr>
            <a:r>
              <a:rPr lang="en-US" sz="1250" dirty="0">
                <a:solidFill>
                  <a:srgbClr val="4FC3F7"/>
                </a:solidFill>
                <a:latin typeface="Calibri" pitchFamily="34" charset="0"/>
                <a:ea typeface="Calibri" pitchFamily="34" charset="-122"/>
                <a:cs typeface="Calibri" pitchFamily="34" charset="-120"/>
              </a:rPr>
              <a:t>▸ </a:t>
            </a:r>
            <a:r>
              <a:rPr lang="en-US" sz="1250" dirty="0">
                <a:solidFill>
                  <a:srgbClr val="8B98AC"/>
                </a:solidFill>
                <a:latin typeface="Calibri" pitchFamily="34" charset="0"/>
                <a:ea typeface="Calibri" pitchFamily="34" charset="-122"/>
                <a:cs typeface="Calibri" pitchFamily="34" charset="-120"/>
              </a:rPr>
              <a:t>Uložit / Zrušit změny</a:t>
            </a:r>
            <a:endParaRPr lang="en-US" sz="1250" dirty="0"/>
          </a:p>
        </p:txBody>
      </p:sp>
      <p:sp>
        <p:nvSpPr>
          <p:cNvPr id="17" name="Text 15"/>
          <p:cNvSpPr/>
          <p:nvPr/>
        </p:nvSpPr>
        <p:spPr>
          <a:xfrm>
            <a:off x="4023360" y="3593592"/>
            <a:ext cx="2651760" cy="457200"/>
          </a:xfrm>
          <a:prstGeom prst="rect">
            <a:avLst/>
          </a:prstGeom>
          <a:noFill/>
          <a:ln/>
        </p:spPr>
        <p:txBody>
          <a:bodyPr wrap="square" rtlCol="0" anchor="t"/>
          <a:lstStyle/>
          <a:p>
            <a:pPr marL="0" indent="0">
              <a:buNone/>
            </a:pPr>
            <a:r>
              <a:rPr lang="en-US" sz="1250" dirty="0">
                <a:solidFill>
                  <a:srgbClr val="4FC3F7"/>
                </a:solidFill>
                <a:latin typeface="Calibri" pitchFamily="34" charset="0"/>
                <a:ea typeface="Calibri" pitchFamily="34" charset="-122"/>
                <a:cs typeface="Calibri" pitchFamily="34" charset="-120"/>
              </a:rPr>
              <a:t>▸ </a:t>
            </a:r>
            <a:r>
              <a:rPr lang="en-US" sz="1250" dirty="0">
                <a:solidFill>
                  <a:srgbClr val="8B98AC"/>
                </a:solidFill>
                <a:latin typeface="Calibri" pitchFamily="34" charset="0"/>
                <a:ea typeface="Calibri" pitchFamily="34" charset="-122"/>
                <a:cs typeface="Calibri" pitchFamily="34" charset="-120"/>
              </a:rPr>
              <a:t>Změny lokálně</a:t>
            </a:r>
            <a:endParaRPr lang="en-US" sz="1250" dirty="0"/>
          </a:p>
        </p:txBody>
      </p:sp>
      <p:sp>
        <p:nvSpPr>
          <p:cNvPr id="18" name="Text 16"/>
          <p:cNvSpPr/>
          <p:nvPr/>
        </p:nvSpPr>
        <p:spPr>
          <a:xfrm>
            <a:off x="4023360" y="4123944"/>
            <a:ext cx="2651760" cy="457200"/>
          </a:xfrm>
          <a:prstGeom prst="rect">
            <a:avLst/>
          </a:prstGeom>
          <a:noFill/>
          <a:ln/>
        </p:spPr>
        <p:txBody>
          <a:bodyPr wrap="square" rtlCol="0" anchor="t"/>
          <a:lstStyle/>
          <a:p>
            <a:pPr marL="0" indent="0">
              <a:buNone/>
            </a:pPr>
            <a:r>
              <a:rPr lang="en-US" sz="1250" dirty="0">
                <a:solidFill>
                  <a:srgbClr val="4FC3F7"/>
                </a:solidFill>
                <a:latin typeface="Calibri" pitchFamily="34" charset="0"/>
                <a:ea typeface="Calibri" pitchFamily="34" charset="-122"/>
                <a:cs typeface="Calibri" pitchFamily="34" charset="-120"/>
              </a:rPr>
              <a:t>▸ </a:t>
            </a:r>
            <a:r>
              <a:rPr lang="en-US" sz="1250" dirty="0">
                <a:solidFill>
                  <a:srgbClr val="8B98AC"/>
                </a:solidFill>
                <a:latin typeface="Calibri" pitchFamily="34" charset="0"/>
                <a:ea typeface="Calibri" pitchFamily="34" charset="-122"/>
                <a:cs typeface="Calibri" pitchFamily="34" charset="-120"/>
              </a:rPr>
              <a:t>Uloží po potvrzení</a:t>
            </a:r>
            <a:endParaRPr lang="en-US" sz="1250" dirty="0"/>
          </a:p>
        </p:txBody>
      </p:sp>
      <p:sp>
        <p:nvSpPr>
          <p:cNvPr id="19" name="Shape 17"/>
          <p:cNvSpPr/>
          <p:nvPr/>
        </p:nvSpPr>
        <p:spPr>
          <a:xfrm>
            <a:off x="7223760" y="1965960"/>
            <a:ext cx="4389120" cy="2880360"/>
          </a:xfrm>
          <a:prstGeom prst="roundRect">
            <a:avLst>
              <a:gd name="adj" fmla="val 1905"/>
            </a:avLst>
          </a:prstGeom>
          <a:solidFill>
            <a:srgbClr val="10161F"/>
          </a:solidFill>
          <a:ln w="12700">
            <a:solidFill>
              <a:srgbClr val="2C3A52"/>
            </a:solidFill>
            <a:prstDash val="solid"/>
          </a:ln>
        </p:spPr>
        <p:txBody>
          <a:bodyPr/>
          <a:lstStyle/>
          <a:p>
            <a:endParaRPr lang="en-GB"/>
          </a:p>
        </p:txBody>
      </p:sp>
      <p:sp>
        <p:nvSpPr>
          <p:cNvPr id="20" name="Text 18"/>
          <p:cNvSpPr/>
          <p:nvPr/>
        </p:nvSpPr>
        <p:spPr>
          <a:xfrm>
            <a:off x="7333488" y="2039112"/>
            <a:ext cx="4169664" cy="2734056"/>
          </a:xfrm>
          <a:prstGeom prst="rect">
            <a:avLst/>
          </a:prstGeom>
          <a:noFill/>
          <a:ln/>
        </p:spPr>
        <p:txBody>
          <a:bodyPr wrap="square" lIns="0" tIns="0" rIns="0" bIns="0" rtlCol="0" anchor="t"/>
          <a:lstStyle/>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&lt;Input id="name" label="Název"</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value={item?.name}</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onChange={onChange}</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onBlur={onBlur} /&gt;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&lt;SemestersManager</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semesters={item?.semesters}</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subjectId={item?.id}</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onSemestersChange=</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{onSemestersChange} /&gt;</a:t>
            </a:r>
            <a:endParaRPr lang="en-US" sz="1150" dirty="0"/>
          </a:p>
        </p:txBody>
      </p:sp>
      <p:sp>
        <p:nvSpPr>
          <p:cNvPr id="21" name="Shape 19"/>
          <p:cNvSpPr/>
          <p:nvPr/>
        </p:nvSpPr>
        <p:spPr>
          <a:xfrm>
            <a:off x="548640" y="5074920"/>
            <a:ext cx="11064240" cy="1005840"/>
          </a:xfrm>
          <a:prstGeom prst="roundRect">
            <a:avLst>
              <a:gd name="adj" fmla="val 7273"/>
            </a:avLst>
          </a:prstGeom>
          <a:solidFill>
            <a:srgbClr val="232E42"/>
          </a:solidFill>
          <a:ln w="12700">
            <a:solidFill>
              <a:srgbClr val="2C3A52"/>
            </a:solidFill>
            <a:prstDash val="solid"/>
          </a:ln>
        </p:spPr>
        <p:txBody>
          <a:bodyPr/>
          <a:lstStyle/>
          <a:p>
            <a:endParaRPr lang="en-GB"/>
          </a:p>
        </p:txBody>
      </p:sp>
      <p:sp>
        <p:nvSpPr>
          <p:cNvPr id="22" name="Text 20"/>
          <p:cNvSpPr/>
          <p:nvPr/>
        </p:nvSpPr>
        <p:spPr>
          <a:xfrm>
            <a:off x="777240" y="5166360"/>
            <a:ext cx="10607040" cy="822960"/>
          </a:xfrm>
          <a:prstGeom prst="rect">
            <a:avLst/>
          </a:prstGeom>
          <a:noFill/>
          <a:ln/>
        </p:spPr>
        <p:txBody>
          <a:bodyPr wrap="square" rtlCol="0" anchor="ctr"/>
          <a:lstStyle/>
          <a:p>
            <a:pPr marL="0" indent="0">
              <a:lnSpc>
                <a:spcPct val="105000"/>
              </a:lnSpc>
              <a:buNone/>
            </a:pPr>
            <a:r>
              <a:rPr lang="en-US" sz="1350" b="1" dirty="0">
                <a:solidFill>
                  <a:srgbClr val="F778BA"/>
                </a:solidFill>
                <a:latin typeface="Calibri" pitchFamily="34" charset="0"/>
                <a:ea typeface="Calibri" pitchFamily="34" charset="-122"/>
                <a:cs typeface="Calibri" pitchFamily="34" charset="-120"/>
              </a:rPr>
              <a:t>Writable komponenty:  </a:t>
            </a:r>
            <a:r>
              <a:rPr lang="en-US" sz="1350" dirty="0">
                <a:solidFill>
                  <a:srgbClr val="E6EDF3"/>
                </a:solidFill>
                <a:latin typeface="Calibri" pitchFamily="34" charset="0"/>
                <a:ea typeface="Calibri" pitchFamily="34" charset="-122"/>
                <a:cs typeface="Calibri" pitchFamily="34" charset="-120"/>
              </a:rPr>
              <a:t>PageUpdateItem.jsx · EditMode.jsx · MediumEditableContent.jsx · SemestersManager.jsx — komponenty jen předávají onChange, ukládání řeší EditMode.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rtlCol="0" anchor="ctr"/>
          <a:lstStyle/>
          <a:p>
            <a:pPr marL="0" indent="0">
              <a:buNone/>
            </a:pPr>
            <a:r>
              <a:rPr lang="en-US" sz="1200" b="1" kern="0" spc="200" dirty="0">
                <a:solidFill>
                  <a:srgbClr val="F778BA"/>
                </a:solidFill>
                <a:latin typeface="Calibri" pitchFamily="34" charset="0"/>
                <a:ea typeface="Calibri" pitchFamily="34" charset="-122"/>
                <a:cs typeface="Calibri" pitchFamily="34" charset="-120"/>
              </a:rPr>
              <a:t>UPDATE · SEMESTRY</a:t>
            </a:r>
            <a:endParaRPr lang="en-US" sz="1200" dirty="0"/>
          </a:p>
        </p:txBody>
      </p:sp>
      <p:sp>
        <p:nvSpPr>
          <p:cNvPr id="3" name="Text 1"/>
          <p:cNvSpPr/>
          <p:nvPr/>
        </p:nvSpPr>
        <p:spPr>
          <a:xfrm>
            <a:off x="548640" y="640080"/>
            <a:ext cx="11064240" cy="68580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Správa semestrů — přidání, mazání, pořadí</a:t>
            </a:r>
            <a:endParaRPr lang="en-US" sz="3000" dirty="0"/>
          </a:p>
        </p:txBody>
      </p:sp>
      <p:sp>
        <p:nvSpPr>
          <p:cNvPr id="4" name="Text 2"/>
          <p:cNvSpPr/>
          <p:nvPr/>
        </p:nvSpPr>
        <p:spPr>
          <a:xfrm>
            <a:off x="548640" y="1417320"/>
            <a:ext cx="11338560" cy="365760"/>
          </a:xfrm>
          <a:prstGeom prst="rect">
            <a:avLst/>
          </a:prstGeom>
          <a:noFill/>
          <a:ln/>
        </p:spPr>
        <p:txBody>
          <a:bodyPr wrap="square" rtlCol="0" anchor="ctr"/>
          <a:lstStyle/>
          <a:p>
            <a:pPr marL="0" indent="0">
              <a:buNone/>
            </a:pPr>
            <a:r>
              <a:rPr lang="en-US" sz="1400" dirty="0">
                <a:solidFill>
                  <a:srgbClr val="8B98AC"/>
                </a:solidFill>
                <a:latin typeface="Calibri" pitchFamily="34" charset="0"/>
                <a:ea typeface="Calibri" pitchFamily="34" charset="-122"/>
                <a:cs typeface="Calibri" pitchFamily="34" charset="-120"/>
              </a:rPr>
              <a:t>SemestersManager mění lokální stav; EditMode určí create / delete / update a uloží na server.</a:t>
            </a:r>
            <a:endParaRPr lang="en-US" sz="1400" dirty="0"/>
          </a:p>
        </p:txBody>
      </p:sp>
      <p:sp>
        <p:nvSpPr>
          <p:cNvPr id="5" name="Shape 3"/>
          <p:cNvSpPr/>
          <p:nvPr/>
        </p:nvSpPr>
        <p:spPr>
          <a:xfrm>
            <a:off x="548640" y="1874520"/>
            <a:ext cx="6492240" cy="822960"/>
          </a:xfrm>
          <a:prstGeom prst="roundRect">
            <a:avLst>
              <a:gd name="adj" fmla="val 8889"/>
            </a:avLst>
          </a:prstGeom>
          <a:solidFill>
            <a:srgbClr val="1B2333"/>
          </a:solidFill>
          <a:ln w="13970">
            <a:solidFill>
              <a:srgbClr val="7EE787"/>
            </a:solidFill>
            <a:prstDash val="solid"/>
          </a:ln>
        </p:spPr>
        <p:txBody>
          <a:bodyPr/>
          <a:lstStyle/>
          <a:p>
            <a:endParaRPr lang="en-GB"/>
          </a:p>
        </p:txBody>
      </p:sp>
      <p:sp>
        <p:nvSpPr>
          <p:cNvPr id="6" name="Text 4"/>
          <p:cNvSpPr/>
          <p:nvPr/>
        </p:nvSpPr>
        <p:spPr>
          <a:xfrm>
            <a:off x="777240" y="1984248"/>
            <a:ext cx="1554480" cy="594360"/>
          </a:xfrm>
          <a:prstGeom prst="rect">
            <a:avLst/>
          </a:prstGeom>
          <a:noFill/>
          <a:ln/>
        </p:spPr>
        <p:txBody>
          <a:bodyPr wrap="square" rtlCol="0" anchor="ctr"/>
          <a:lstStyle/>
          <a:p>
            <a:pPr marL="0" indent="0">
              <a:buNone/>
            </a:pPr>
            <a:r>
              <a:rPr lang="en-US" sz="1600" b="1" dirty="0">
                <a:solidFill>
                  <a:srgbClr val="7EE787"/>
                </a:solidFill>
                <a:latin typeface="Cambria" pitchFamily="34" charset="0"/>
                <a:ea typeface="Cambria" pitchFamily="34" charset="-122"/>
                <a:cs typeface="Cambria" pitchFamily="34" charset="-120"/>
              </a:rPr>
              <a:t>Přidat</a:t>
            </a:r>
            <a:endParaRPr lang="en-US" sz="1600" dirty="0"/>
          </a:p>
        </p:txBody>
      </p:sp>
      <p:sp>
        <p:nvSpPr>
          <p:cNvPr id="7" name="Text 5"/>
          <p:cNvSpPr/>
          <p:nvPr/>
        </p:nvSpPr>
        <p:spPr>
          <a:xfrm>
            <a:off x="2286000" y="1965960"/>
            <a:ext cx="4617720" cy="640080"/>
          </a:xfrm>
          <a:prstGeom prst="rect">
            <a:avLst/>
          </a:prstGeom>
          <a:noFill/>
          <a:ln/>
        </p:spPr>
        <p:txBody>
          <a:bodyPr wrap="square" rtlCol="0" anchor="ctr"/>
          <a:lstStyle/>
          <a:p>
            <a:pPr marL="0" indent="0">
              <a:lnSpc>
                <a:spcPct val="105000"/>
              </a:lnSpc>
              <a:buNone/>
            </a:pPr>
            <a:r>
              <a:rPr lang="en-US" sz="1200" dirty="0">
                <a:solidFill>
                  <a:srgbClr val="8B98AC"/>
                </a:solidFill>
                <a:latin typeface="Calibri" pitchFamily="34" charset="0"/>
                <a:ea typeface="Calibri" pitchFamily="34" charset="-122"/>
                <a:cs typeface="Calibri" pitchFamily="34" charset="-120"/>
              </a:rPr>
              <a:t>handleAddNewSemester — nový semestr s order = max+1, flag _action:'create'</a:t>
            </a:r>
            <a:endParaRPr lang="en-US" sz="1200" dirty="0"/>
          </a:p>
        </p:txBody>
      </p:sp>
      <p:sp>
        <p:nvSpPr>
          <p:cNvPr id="8" name="Shape 6"/>
          <p:cNvSpPr/>
          <p:nvPr/>
        </p:nvSpPr>
        <p:spPr>
          <a:xfrm>
            <a:off x="548640" y="2834640"/>
            <a:ext cx="6492240" cy="822960"/>
          </a:xfrm>
          <a:prstGeom prst="roundRect">
            <a:avLst>
              <a:gd name="adj" fmla="val 8889"/>
            </a:avLst>
          </a:prstGeom>
          <a:solidFill>
            <a:srgbClr val="1B2333"/>
          </a:solidFill>
          <a:ln w="13970">
            <a:solidFill>
              <a:srgbClr val="F0A868"/>
            </a:solidFill>
            <a:prstDash val="solid"/>
          </a:ln>
        </p:spPr>
        <p:txBody>
          <a:bodyPr/>
          <a:lstStyle/>
          <a:p>
            <a:endParaRPr lang="en-GB"/>
          </a:p>
        </p:txBody>
      </p:sp>
      <p:sp>
        <p:nvSpPr>
          <p:cNvPr id="9" name="Text 7"/>
          <p:cNvSpPr/>
          <p:nvPr/>
        </p:nvSpPr>
        <p:spPr>
          <a:xfrm>
            <a:off x="777240" y="2944368"/>
            <a:ext cx="1554480" cy="594360"/>
          </a:xfrm>
          <a:prstGeom prst="rect">
            <a:avLst/>
          </a:prstGeom>
          <a:noFill/>
          <a:ln/>
        </p:spPr>
        <p:txBody>
          <a:bodyPr wrap="square" rtlCol="0" anchor="ctr"/>
          <a:lstStyle/>
          <a:p>
            <a:pPr marL="0" indent="0">
              <a:buNone/>
            </a:pPr>
            <a:r>
              <a:rPr lang="en-US" sz="1600" b="1" dirty="0">
                <a:solidFill>
                  <a:srgbClr val="F0A868"/>
                </a:solidFill>
                <a:latin typeface="Cambria" pitchFamily="34" charset="0"/>
                <a:ea typeface="Cambria" pitchFamily="34" charset="-122"/>
                <a:cs typeface="Cambria" pitchFamily="34" charset="-120"/>
              </a:rPr>
              <a:t>Smazat</a:t>
            </a:r>
            <a:endParaRPr lang="en-US" sz="1600" dirty="0"/>
          </a:p>
        </p:txBody>
      </p:sp>
      <p:sp>
        <p:nvSpPr>
          <p:cNvPr id="10" name="Text 8"/>
          <p:cNvSpPr/>
          <p:nvPr/>
        </p:nvSpPr>
        <p:spPr>
          <a:xfrm>
            <a:off x="2286000" y="2926080"/>
            <a:ext cx="4617720" cy="640080"/>
          </a:xfrm>
          <a:prstGeom prst="rect">
            <a:avLst/>
          </a:prstGeom>
          <a:noFill/>
          <a:ln/>
        </p:spPr>
        <p:txBody>
          <a:bodyPr wrap="square" rtlCol="0" anchor="ctr"/>
          <a:lstStyle/>
          <a:p>
            <a:pPr marL="0" indent="0">
              <a:lnSpc>
                <a:spcPct val="105000"/>
              </a:lnSpc>
              <a:buNone/>
            </a:pPr>
            <a:r>
              <a:rPr lang="en-US" sz="1200" dirty="0">
                <a:solidFill>
                  <a:srgbClr val="8B98AC"/>
                </a:solidFill>
                <a:latin typeface="Calibri" pitchFamily="34" charset="0"/>
                <a:ea typeface="Calibri" pitchFamily="34" charset="-122"/>
                <a:cs typeface="Calibri" pitchFamily="34" charset="-120"/>
              </a:rPr>
              <a:t>showDeleteConfirmation → potvrzení → přečíslování zbylých semestrů</a:t>
            </a:r>
            <a:endParaRPr lang="en-US" sz="1200" dirty="0"/>
          </a:p>
        </p:txBody>
      </p:sp>
      <p:sp>
        <p:nvSpPr>
          <p:cNvPr id="11" name="Shape 9"/>
          <p:cNvSpPr/>
          <p:nvPr/>
        </p:nvSpPr>
        <p:spPr>
          <a:xfrm>
            <a:off x="548640" y="3794760"/>
            <a:ext cx="6492240" cy="822960"/>
          </a:xfrm>
          <a:prstGeom prst="roundRect">
            <a:avLst>
              <a:gd name="adj" fmla="val 8889"/>
            </a:avLst>
          </a:prstGeom>
          <a:solidFill>
            <a:srgbClr val="1B2333"/>
          </a:solidFill>
          <a:ln w="13970">
            <a:solidFill>
              <a:srgbClr val="4FC3F7"/>
            </a:solidFill>
            <a:prstDash val="solid"/>
          </a:ln>
        </p:spPr>
        <p:txBody>
          <a:bodyPr/>
          <a:lstStyle/>
          <a:p>
            <a:endParaRPr lang="en-GB"/>
          </a:p>
        </p:txBody>
      </p:sp>
      <p:sp>
        <p:nvSpPr>
          <p:cNvPr id="12" name="Text 10"/>
          <p:cNvSpPr/>
          <p:nvPr/>
        </p:nvSpPr>
        <p:spPr>
          <a:xfrm>
            <a:off x="777240" y="3904488"/>
            <a:ext cx="1554480" cy="594360"/>
          </a:xfrm>
          <a:prstGeom prst="rect">
            <a:avLst/>
          </a:prstGeom>
          <a:noFill/>
          <a:ln/>
        </p:spPr>
        <p:txBody>
          <a:bodyPr wrap="square" rtlCol="0" anchor="ctr"/>
          <a:lstStyle/>
          <a:p>
            <a:pPr marL="0" indent="0">
              <a:buNone/>
            </a:pPr>
            <a:r>
              <a:rPr lang="en-US" sz="1600" b="1" dirty="0">
                <a:solidFill>
                  <a:srgbClr val="4FC3F7"/>
                </a:solidFill>
                <a:latin typeface="Cambria" pitchFamily="34" charset="0"/>
                <a:ea typeface="Cambria" pitchFamily="34" charset="-122"/>
                <a:cs typeface="Cambria" pitchFamily="34" charset="-120"/>
              </a:rPr>
              <a:t>Přesunout</a:t>
            </a:r>
            <a:endParaRPr lang="en-US" sz="1600" dirty="0"/>
          </a:p>
        </p:txBody>
      </p:sp>
      <p:sp>
        <p:nvSpPr>
          <p:cNvPr id="13" name="Text 11"/>
          <p:cNvSpPr/>
          <p:nvPr/>
        </p:nvSpPr>
        <p:spPr>
          <a:xfrm>
            <a:off x="2286000" y="3886200"/>
            <a:ext cx="4617720" cy="640080"/>
          </a:xfrm>
          <a:prstGeom prst="rect">
            <a:avLst/>
          </a:prstGeom>
          <a:noFill/>
          <a:ln/>
        </p:spPr>
        <p:txBody>
          <a:bodyPr wrap="square" rtlCol="0" anchor="ctr"/>
          <a:lstStyle/>
          <a:p>
            <a:pPr marL="0" indent="0">
              <a:lnSpc>
                <a:spcPct val="105000"/>
              </a:lnSpc>
              <a:buNone/>
            </a:pPr>
            <a:r>
              <a:rPr lang="en-US" sz="1200" dirty="0">
                <a:solidFill>
                  <a:srgbClr val="8B98AC"/>
                </a:solidFill>
                <a:latin typeface="Calibri" pitchFamily="34" charset="0"/>
                <a:ea typeface="Calibri" pitchFamily="34" charset="-122"/>
                <a:cs typeface="Calibri" pitchFamily="34" charset="-120"/>
              </a:rPr>
              <a:t>handleMoveUp / handleMoveDown — swap hodnoty order sousedních semestrů</a:t>
            </a:r>
            <a:endParaRPr lang="en-US" sz="1200" dirty="0"/>
          </a:p>
        </p:txBody>
      </p:sp>
      <p:sp>
        <p:nvSpPr>
          <p:cNvPr id="14" name="Shape 12"/>
          <p:cNvSpPr/>
          <p:nvPr/>
        </p:nvSpPr>
        <p:spPr>
          <a:xfrm>
            <a:off x="7269480" y="1874520"/>
            <a:ext cx="4343400" cy="2697480"/>
          </a:xfrm>
          <a:prstGeom prst="roundRect">
            <a:avLst>
              <a:gd name="adj" fmla="val 2034"/>
            </a:avLst>
          </a:prstGeom>
          <a:solidFill>
            <a:srgbClr val="10161F"/>
          </a:solidFill>
          <a:ln w="12700">
            <a:solidFill>
              <a:srgbClr val="2C3A52"/>
            </a:solidFill>
            <a:prstDash val="solid"/>
          </a:ln>
        </p:spPr>
        <p:txBody>
          <a:bodyPr/>
          <a:lstStyle/>
          <a:p>
            <a:endParaRPr lang="en-GB"/>
          </a:p>
        </p:txBody>
      </p:sp>
      <p:sp>
        <p:nvSpPr>
          <p:cNvPr id="15" name="Text 13"/>
          <p:cNvSpPr/>
          <p:nvPr/>
        </p:nvSpPr>
        <p:spPr>
          <a:xfrm>
            <a:off x="7379208" y="1947672"/>
            <a:ext cx="4123944" cy="2551176"/>
          </a:xfrm>
          <a:prstGeom prst="rect">
            <a:avLst/>
          </a:prstGeom>
          <a:noFill/>
          <a:ln/>
        </p:spPr>
        <p:txBody>
          <a:bodyPr wrap="square" lIns="0" tIns="0" rIns="0" bIns="0" rtlCol="0" anchor="t"/>
          <a:lstStyle/>
          <a:p>
            <a:pPr marL="0" indent="0" algn="l">
              <a:lnSpc>
                <a:spcPct val="105000"/>
              </a:lnSpc>
              <a:buNone/>
            </a:pPr>
            <a:r>
              <a:rPr lang="en-US" sz="1100" dirty="0">
                <a:solidFill>
                  <a:srgbClr val="8B98AC"/>
                </a:solidFill>
                <a:latin typeface="Courier New" pitchFamily="34" charset="0"/>
                <a:ea typeface="Courier New" pitchFamily="34" charset="-122"/>
                <a:cs typeface="Courier New" pitchFamily="34" charset="-120"/>
              </a:rPr>
              <a:t>// EditMode rozřadí operace</a:t>
            </a:r>
            <a:endParaRPr lang="en-US" sz="1100" dirty="0"/>
          </a:p>
          <a:p>
            <a:pPr marL="0" indent="0" algn="l">
              <a:lnSpc>
                <a:spcPct val="105000"/>
              </a:lnSpc>
              <a:buNone/>
            </a:pPr>
            <a:r>
              <a:rPr lang="en-US" sz="1100" dirty="0">
                <a:solidFill>
                  <a:srgbClr val="E6EDF3"/>
                </a:solidFill>
                <a:latin typeface="Courier New" pitchFamily="34" charset="0"/>
                <a:ea typeface="Courier New" pitchFamily="34" charset="-122"/>
                <a:cs typeface="Courier New" pitchFamily="34" charset="-120"/>
              </a:rPr>
              <a:t>toCreate = filter(_action</a:t>
            </a:r>
            <a:endParaRPr lang="en-US" sz="1100" dirty="0"/>
          </a:p>
          <a:p>
            <a:pPr marL="0" indent="0" algn="l">
              <a:lnSpc>
                <a:spcPct val="105000"/>
              </a:lnSpc>
              <a:buNone/>
            </a:pPr>
            <a:r>
              <a:rPr lang="en-US" sz="1100" dirty="0">
                <a:solidFill>
                  <a:srgbClr val="E6EDF3"/>
                </a:solidFill>
                <a:latin typeface="Courier New" pitchFamily="34" charset="0"/>
                <a:ea typeface="Courier New" pitchFamily="34" charset="-122"/>
                <a:cs typeface="Courier New" pitchFamily="34" charset="-120"/>
              </a:rPr>
              <a:t>           === 'create')</a:t>
            </a:r>
            <a:endParaRPr lang="en-US" sz="1100" dirty="0"/>
          </a:p>
          <a:p>
            <a:pPr marL="0" indent="0" algn="l">
              <a:lnSpc>
                <a:spcPct val="105000"/>
              </a:lnSpc>
              <a:buNone/>
            </a:pPr>
            <a:r>
              <a:rPr lang="en-US" sz="1100" dirty="0">
                <a:solidFill>
                  <a:srgbClr val="E6EDF3"/>
                </a:solidFill>
                <a:latin typeface="Courier New" pitchFamily="34" charset="0"/>
                <a:ea typeface="Courier New" pitchFamily="34" charset="-122"/>
                <a:cs typeface="Courier New" pitchFamily="34" charset="-120"/>
              </a:rPr>
              <a:t>toDelete = original.filter(</a:t>
            </a:r>
            <a:endParaRPr lang="en-US" sz="1100" dirty="0"/>
          </a:p>
          <a:p>
            <a:pPr marL="0" indent="0" algn="l">
              <a:lnSpc>
                <a:spcPct val="105000"/>
              </a:lnSpc>
              <a:buNone/>
            </a:pPr>
            <a:r>
              <a:rPr lang="en-US" sz="1100" dirty="0">
                <a:solidFill>
                  <a:srgbClr val="E6EDF3"/>
                </a:solidFill>
                <a:latin typeface="Courier New" pitchFamily="34" charset="0"/>
                <a:ea typeface="Courier New" pitchFamily="34" charset="-122"/>
                <a:cs typeface="Courier New" pitchFamily="34" charset="-120"/>
              </a:rPr>
              <a:t>  s =&gt; !currMap.has(s.id))</a:t>
            </a:r>
            <a:endParaRPr lang="en-US" sz="1100" dirty="0"/>
          </a:p>
          <a:p>
            <a:pPr marL="0" indent="0" algn="l">
              <a:lnSpc>
                <a:spcPct val="105000"/>
              </a:lnSpc>
              <a:buNone/>
            </a:pPr>
            <a:r>
              <a:rPr lang="en-US" sz="1100" dirty="0">
                <a:solidFill>
                  <a:srgbClr val="E6EDF3"/>
                </a:solidFill>
                <a:latin typeface="Courier New" pitchFamily="34" charset="0"/>
                <a:ea typeface="Courier New" pitchFamily="34" charset="-122"/>
                <a:cs typeface="Courier New" pitchFamily="34" charset="-120"/>
              </a:rPr>
              <a:t>toUpdate = filter(orig.order</a:t>
            </a:r>
            <a:endParaRPr lang="en-US" sz="1100" dirty="0"/>
          </a:p>
          <a:p>
            <a:pPr marL="0" indent="0" algn="l">
              <a:lnSpc>
                <a:spcPct val="105000"/>
              </a:lnSpc>
              <a:buNone/>
            </a:pPr>
            <a:r>
              <a:rPr lang="en-US" sz="1100" dirty="0">
                <a:solidFill>
                  <a:srgbClr val="E6EDF3"/>
                </a:solidFill>
                <a:latin typeface="Courier New" pitchFamily="34" charset="0"/>
                <a:ea typeface="Courier New" pitchFamily="34" charset="-122"/>
                <a:cs typeface="Courier New" pitchFamily="34" charset="-120"/>
              </a:rPr>
              <a:t>           !== s.order)</a:t>
            </a:r>
            <a:endParaRPr lang="en-US" sz="1100" dirty="0"/>
          </a:p>
          <a:p>
            <a:pPr marL="0" indent="0" algn="l">
              <a:lnSpc>
                <a:spcPct val="105000"/>
              </a:lnSpc>
              <a:buNone/>
            </a:pPr>
            <a:r>
              <a:rPr lang="en-US" sz="1100" dirty="0">
                <a:solidFill>
                  <a:srgbClr val="8B98AC"/>
                </a:solidFill>
                <a:latin typeface="Courier New" pitchFamily="34" charset="0"/>
                <a:ea typeface="Courier New" pitchFamily="34" charset="-122"/>
                <a:cs typeface="Courier New" pitchFamily="34" charset="-120"/>
              </a:rPr>
              <a:t>// pořadí: create→delete→update</a:t>
            </a:r>
            <a:endParaRPr lang="en-US" sz="1100" dirty="0"/>
          </a:p>
        </p:txBody>
      </p:sp>
      <p:sp>
        <p:nvSpPr>
          <p:cNvPr id="16" name="Shape 14"/>
          <p:cNvSpPr/>
          <p:nvPr/>
        </p:nvSpPr>
        <p:spPr>
          <a:xfrm>
            <a:off x="548640" y="4892040"/>
            <a:ext cx="11064240" cy="1188720"/>
          </a:xfrm>
          <a:prstGeom prst="roundRect">
            <a:avLst>
              <a:gd name="adj" fmla="val 6154"/>
            </a:avLst>
          </a:prstGeom>
          <a:solidFill>
            <a:srgbClr val="232E42"/>
          </a:solidFill>
          <a:ln w="12700">
            <a:solidFill>
              <a:srgbClr val="2C3A52"/>
            </a:solidFill>
            <a:prstDash val="solid"/>
          </a:ln>
        </p:spPr>
        <p:txBody>
          <a:bodyPr/>
          <a:lstStyle/>
          <a:p>
            <a:endParaRPr lang="en-GB"/>
          </a:p>
        </p:txBody>
      </p:sp>
      <p:sp>
        <p:nvSpPr>
          <p:cNvPr id="17" name="Text 15"/>
          <p:cNvSpPr/>
          <p:nvPr/>
        </p:nvSpPr>
        <p:spPr>
          <a:xfrm>
            <a:off x="777240" y="5029200"/>
            <a:ext cx="10607040" cy="914400"/>
          </a:xfrm>
          <a:prstGeom prst="rect">
            <a:avLst/>
          </a:prstGeom>
          <a:noFill/>
          <a:ln/>
        </p:spPr>
        <p:txBody>
          <a:bodyPr wrap="square" rtlCol="0" anchor="ctr"/>
          <a:lstStyle/>
          <a:p>
            <a:pPr marL="0" indent="0">
              <a:lnSpc>
                <a:spcPct val="110000"/>
              </a:lnSpc>
              <a:buNone/>
            </a:pPr>
            <a:r>
              <a:rPr lang="en-US" sz="1350" b="1" dirty="0">
                <a:solidFill>
                  <a:srgbClr val="F778BA"/>
                </a:solidFill>
                <a:latin typeface="Calibri" pitchFamily="34" charset="0"/>
                <a:ea typeface="Calibri" pitchFamily="34" charset="-122"/>
                <a:cs typeface="Calibri" pitchFamily="34" charset="-120"/>
              </a:rPr>
              <a:t>Draft / commit:  </a:t>
            </a:r>
            <a:r>
              <a:rPr lang="en-US" sz="1350" dirty="0">
                <a:solidFill>
                  <a:srgbClr val="E6EDF3"/>
                </a:solidFill>
                <a:latin typeface="Calibri" pitchFamily="34" charset="0"/>
                <a:ea typeface="Calibri" pitchFamily="34" charset="-122"/>
                <a:cs typeface="Calibri" pitchFamily="34" charset="-120"/>
              </a:rPr>
              <a:t>změny se nejdřív drží lokálně a na server se propíšou až při uložení. Každá mutace nese lastchange (optimistic locking), neúspěšné smazání se rolluje zpět a pořadí se přepočítá.</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rtlCol="0" anchor="ctr"/>
          <a:lstStyle/>
          <a:p>
            <a:pPr marL="0" indent="0">
              <a:buNone/>
            </a:pPr>
            <a:r>
              <a:rPr lang="en-US" sz="1200" b="1" kern="0" spc="200" dirty="0">
                <a:solidFill>
                  <a:srgbClr val="7EE787"/>
                </a:solidFill>
                <a:latin typeface="Calibri" pitchFamily="34" charset="0"/>
                <a:ea typeface="Calibri" pitchFamily="34" charset="-122"/>
                <a:cs typeface="Calibri" pitchFamily="34" charset="-120"/>
              </a:rPr>
              <a:t>CREATE</a:t>
            </a:r>
            <a:endParaRPr lang="en-US" sz="1200" dirty="0"/>
          </a:p>
        </p:txBody>
      </p:sp>
      <p:sp>
        <p:nvSpPr>
          <p:cNvPr id="3" name="Text 1"/>
          <p:cNvSpPr/>
          <p:nvPr/>
        </p:nvSpPr>
        <p:spPr>
          <a:xfrm>
            <a:off x="548640" y="640080"/>
            <a:ext cx="11064240" cy="68580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Vytvoření předmětu</a:t>
            </a:r>
            <a:endParaRPr lang="en-US" sz="3000" dirty="0"/>
          </a:p>
        </p:txBody>
      </p:sp>
      <p:sp>
        <p:nvSpPr>
          <p:cNvPr id="4" name="Text 2"/>
          <p:cNvSpPr/>
          <p:nvPr/>
        </p:nvSpPr>
        <p:spPr>
          <a:xfrm>
            <a:off x="548640" y="1417320"/>
            <a:ext cx="11247120" cy="365760"/>
          </a:xfrm>
          <a:prstGeom prst="rect">
            <a:avLst/>
          </a:prstGeom>
          <a:noFill/>
          <a:ln/>
        </p:spPr>
        <p:txBody>
          <a:bodyPr wrap="square" rtlCol="0" anchor="ctr"/>
          <a:lstStyle/>
          <a:p>
            <a:pPr marL="0" indent="0">
              <a:buNone/>
            </a:pPr>
            <a:r>
              <a:rPr lang="en-US" sz="1400" dirty="0">
                <a:solidFill>
                  <a:srgbClr val="8B98AC"/>
                </a:solidFill>
                <a:latin typeface="Calibri" pitchFamily="34" charset="0"/>
                <a:ea typeface="Calibri" pitchFamily="34" charset="-122"/>
                <a:cs typeface="Calibri" pitchFamily="34" charset="-120"/>
              </a:rPr>
              <a:t>CreateDialog: validace programu → vytvoření předmětu → hromadné vytvoření jeho semestrů.</a:t>
            </a:r>
            <a:endParaRPr lang="en-US" sz="1400" dirty="0"/>
          </a:p>
        </p:txBody>
      </p:sp>
      <p:sp>
        <p:nvSpPr>
          <p:cNvPr id="5" name="Shape 3"/>
          <p:cNvSpPr/>
          <p:nvPr/>
        </p:nvSpPr>
        <p:spPr>
          <a:xfrm>
            <a:off x="548640" y="1920240"/>
            <a:ext cx="3429000" cy="2286000"/>
          </a:xfrm>
          <a:prstGeom prst="roundRect">
            <a:avLst>
              <a:gd name="adj" fmla="val 4000"/>
            </a:avLst>
          </a:prstGeom>
          <a:solidFill>
            <a:srgbClr val="1B2333"/>
          </a:solidFill>
          <a:ln w="16510">
            <a:solidFill>
              <a:srgbClr val="4FC3F7"/>
            </a:solidFill>
            <a:prstDash val="solid"/>
          </a:ln>
        </p:spPr>
        <p:txBody>
          <a:bodyPr/>
          <a:lstStyle/>
          <a:p>
            <a:endParaRPr lang="en-GB"/>
          </a:p>
        </p:txBody>
      </p:sp>
      <p:sp>
        <p:nvSpPr>
          <p:cNvPr id="6" name="Shape 4"/>
          <p:cNvSpPr/>
          <p:nvPr/>
        </p:nvSpPr>
        <p:spPr>
          <a:xfrm>
            <a:off x="777240" y="2103120"/>
            <a:ext cx="457200" cy="457200"/>
          </a:xfrm>
          <a:prstGeom prst="ellipse">
            <a:avLst/>
          </a:prstGeom>
          <a:solidFill>
            <a:srgbClr val="4FC3F7"/>
          </a:solidFill>
          <a:ln/>
        </p:spPr>
        <p:txBody>
          <a:bodyPr/>
          <a:lstStyle/>
          <a:p>
            <a:endParaRPr lang="en-GB"/>
          </a:p>
        </p:txBody>
      </p:sp>
      <p:sp>
        <p:nvSpPr>
          <p:cNvPr id="7" name="Text 5"/>
          <p:cNvSpPr/>
          <p:nvPr/>
        </p:nvSpPr>
        <p:spPr>
          <a:xfrm>
            <a:off x="777240" y="2103120"/>
            <a:ext cx="457200" cy="45720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325880" y="2121408"/>
            <a:ext cx="2560320" cy="457200"/>
          </a:xfrm>
          <a:prstGeom prst="rect">
            <a:avLst/>
          </a:prstGeom>
          <a:noFill/>
          <a:ln/>
        </p:spPr>
        <p:txBody>
          <a:bodyPr wrap="square" rtlCol="0" anchor="ctr"/>
          <a:lstStyle/>
          <a:p>
            <a:pPr marL="0" indent="0">
              <a:buNone/>
            </a:pPr>
            <a:r>
              <a:rPr lang="en-US" sz="1300" b="1" dirty="0">
                <a:solidFill>
                  <a:srgbClr val="4FC3F7"/>
                </a:solidFill>
                <a:latin typeface="Courier New" pitchFamily="34" charset="0"/>
                <a:ea typeface="Courier New" pitchFamily="34" charset="-122"/>
                <a:cs typeface="Courier New" pitchFamily="34" charset="-120"/>
              </a:rPr>
              <a:t>Validace</a:t>
            </a:r>
            <a:endParaRPr lang="en-US" sz="1300" dirty="0"/>
          </a:p>
        </p:txBody>
      </p:sp>
      <p:sp>
        <p:nvSpPr>
          <p:cNvPr id="9" name="Text 7"/>
          <p:cNvSpPr/>
          <p:nvPr/>
        </p:nvSpPr>
        <p:spPr>
          <a:xfrm>
            <a:off x="777240" y="2743200"/>
            <a:ext cx="3017520" cy="1280160"/>
          </a:xfrm>
          <a:prstGeom prst="rect">
            <a:avLst/>
          </a:prstGeom>
          <a:noFill/>
          <a:ln/>
        </p:spPr>
        <p:txBody>
          <a:bodyPr wrap="square" rtlCol="0" anchor="ctr"/>
          <a:lstStyle/>
          <a:p>
            <a:pPr marL="0" indent="0">
              <a:lnSpc>
                <a:spcPct val="115000"/>
              </a:lnSpc>
              <a:buNone/>
            </a:pPr>
            <a:r>
              <a:rPr lang="en-US" sz="1250" dirty="0">
                <a:solidFill>
                  <a:srgbClr val="8B98AC"/>
                </a:solidFill>
                <a:latin typeface="Calibri" pitchFamily="34" charset="0"/>
                <a:ea typeface="Calibri" pitchFamily="34" charset="-122"/>
                <a:cs typeface="Calibri" pitchFamily="34" charset="-120"/>
              </a:rPr>
              <a:t>musí být vybrán program,</a:t>
            </a:r>
            <a:endParaRPr lang="en-US" sz="1250" dirty="0"/>
          </a:p>
          <a:p>
            <a:pPr marL="0" indent="0">
              <a:lnSpc>
                <a:spcPct val="115000"/>
              </a:lnSpc>
              <a:buNone/>
            </a:pPr>
            <a:r>
              <a:rPr lang="en-US" sz="1250" dirty="0">
                <a:solidFill>
                  <a:srgbClr val="8B98AC"/>
                </a:solidFill>
                <a:latin typeface="Calibri" pitchFamily="34" charset="0"/>
                <a:ea typeface="Calibri" pitchFamily="34" charset="-122"/>
                <a:cs typeface="Calibri" pitchFamily="34" charset="-120"/>
              </a:rPr>
              <a:t>jinak chyba</a:t>
            </a:r>
            <a:endParaRPr lang="en-US" sz="1250" dirty="0"/>
          </a:p>
        </p:txBody>
      </p:sp>
      <p:sp>
        <p:nvSpPr>
          <p:cNvPr id="10" name="Text 8"/>
          <p:cNvSpPr/>
          <p:nvPr/>
        </p:nvSpPr>
        <p:spPr>
          <a:xfrm>
            <a:off x="3950208" y="2743200"/>
            <a:ext cx="457200" cy="548640"/>
          </a:xfrm>
          <a:prstGeom prst="rect">
            <a:avLst/>
          </a:prstGeom>
          <a:noFill/>
          <a:ln/>
        </p:spPr>
        <p:txBody>
          <a:bodyPr wrap="square" rtlCol="0" anchor="ctr"/>
          <a:lstStyle/>
          <a:p>
            <a:pPr marL="0" indent="0" algn="ctr">
              <a:buNone/>
            </a:pPr>
            <a:r>
              <a:rPr lang="en-US" sz="2400" b="1" dirty="0">
                <a:solidFill>
                  <a:srgbClr val="8B98AC"/>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4343400" y="1920240"/>
            <a:ext cx="3429000" cy="2286000"/>
          </a:xfrm>
          <a:prstGeom prst="roundRect">
            <a:avLst>
              <a:gd name="adj" fmla="val 4000"/>
            </a:avLst>
          </a:prstGeom>
          <a:solidFill>
            <a:srgbClr val="1B2333"/>
          </a:solidFill>
          <a:ln w="16510">
            <a:solidFill>
              <a:srgbClr val="F778BA"/>
            </a:solidFill>
            <a:prstDash val="solid"/>
          </a:ln>
        </p:spPr>
        <p:txBody>
          <a:bodyPr/>
          <a:lstStyle/>
          <a:p>
            <a:endParaRPr lang="en-GB"/>
          </a:p>
        </p:txBody>
      </p:sp>
      <p:sp>
        <p:nvSpPr>
          <p:cNvPr id="12" name="Shape 10"/>
          <p:cNvSpPr/>
          <p:nvPr/>
        </p:nvSpPr>
        <p:spPr>
          <a:xfrm>
            <a:off x="4572000" y="2103120"/>
            <a:ext cx="457200" cy="457200"/>
          </a:xfrm>
          <a:prstGeom prst="ellipse">
            <a:avLst/>
          </a:prstGeom>
          <a:solidFill>
            <a:srgbClr val="F778BA"/>
          </a:solidFill>
          <a:ln/>
        </p:spPr>
        <p:txBody>
          <a:bodyPr/>
          <a:lstStyle/>
          <a:p>
            <a:endParaRPr lang="en-GB"/>
          </a:p>
        </p:txBody>
      </p:sp>
      <p:sp>
        <p:nvSpPr>
          <p:cNvPr id="13" name="Text 11"/>
          <p:cNvSpPr/>
          <p:nvPr/>
        </p:nvSpPr>
        <p:spPr>
          <a:xfrm>
            <a:off x="4572000" y="2103120"/>
            <a:ext cx="457200" cy="45720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5120640" y="2121408"/>
            <a:ext cx="2560320" cy="457200"/>
          </a:xfrm>
          <a:prstGeom prst="rect">
            <a:avLst/>
          </a:prstGeom>
          <a:noFill/>
          <a:ln/>
        </p:spPr>
        <p:txBody>
          <a:bodyPr wrap="square" rtlCol="0" anchor="ctr"/>
          <a:lstStyle/>
          <a:p>
            <a:pPr marL="0" indent="0">
              <a:buNone/>
            </a:pPr>
            <a:r>
              <a:rPr lang="en-US" sz="1300" b="1" dirty="0">
                <a:solidFill>
                  <a:srgbClr val="F778BA"/>
                </a:solidFill>
                <a:latin typeface="Courier New" pitchFamily="34" charset="0"/>
                <a:ea typeface="Courier New" pitchFamily="34" charset="-122"/>
                <a:cs typeface="Courier New" pitchFamily="34" charset="-120"/>
              </a:rPr>
              <a:t>InsertAsyncAction</a:t>
            </a:r>
            <a:endParaRPr lang="en-US" sz="1300" dirty="0"/>
          </a:p>
        </p:txBody>
      </p:sp>
      <p:sp>
        <p:nvSpPr>
          <p:cNvPr id="15" name="Text 13"/>
          <p:cNvSpPr/>
          <p:nvPr/>
        </p:nvSpPr>
        <p:spPr>
          <a:xfrm>
            <a:off x="4572000" y="2743200"/>
            <a:ext cx="3017520" cy="1280160"/>
          </a:xfrm>
          <a:prstGeom prst="rect">
            <a:avLst/>
          </a:prstGeom>
          <a:noFill/>
          <a:ln/>
        </p:spPr>
        <p:txBody>
          <a:bodyPr wrap="square" rtlCol="0" anchor="ctr"/>
          <a:lstStyle/>
          <a:p>
            <a:pPr marL="0" indent="0">
              <a:lnSpc>
                <a:spcPct val="115000"/>
              </a:lnSpc>
              <a:buNone/>
            </a:pPr>
            <a:r>
              <a:rPr lang="en-US" sz="1250" dirty="0">
                <a:solidFill>
                  <a:srgbClr val="8B98AC"/>
                </a:solidFill>
                <a:latin typeface="Calibri" pitchFamily="34" charset="0"/>
                <a:ea typeface="Calibri" pitchFamily="34" charset="-122"/>
                <a:cs typeface="Calibri" pitchFamily="34" charset="-120"/>
              </a:rPr>
              <a:t>vytvoří Subject,</a:t>
            </a:r>
            <a:endParaRPr lang="en-US" sz="1250" dirty="0"/>
          </a:p>
          <a:p>
            <a:pPr marL="0" indent="0">
              <a:lnSpc>
                <a:spcPct val="115000"/>
              </a:lnSpc>
              <a:buNone/>
            </a:pPr>
            <a:r>
              <a:rPr lang="en-US" sz="1250" dirty="0">
                <a:solidFill>
                  <a:srgbClr val="8B98AC"/>
                </a:solidFill>
                <a:latin typeface="Calibri" pitchFamily="34" charset="0"/>
                <a:ea typeface="Calibri" pitchFamily="34" charset="-122"/>
                <a:cs typeface="Calibri" pitchFamily="34" charset="-120"/>
              </a:rPr>
              <a:t>vrátí id předmětu</a:t>
            </a:r>
            <a:endParaRPr lang="en-US" sz="1250" dirty="0"/>
          </a:p>
        </p:txBody>
      </p:sp>
      <p:sp>
        <p:nvSpPr>
          <p:cNvPr id="16" name="Text 14"/>
          <p:cNvSpPr/>
          <p:nvPr/>
        </p:nvSpPr>
        <p:spPr>
          <a:xfrm>
            <a:off x="7744968" y="2743200"/>
            <a:ext cx="457200" cy="548640"/>
          </a:xfrm>
          <a:prstGeom prst="rect">
            <a:avLst/>
          </a:prstGeom>
          <a:noFill/>
          <a:ln/>
        </p:spPr>
        <p:txBody>
          <a:bodyPr wrap="square" rtlCol="0" anchor="ctr"/>
          <a:lstStyle/>
          <a:p>
            <a:pPr marL="0" indent="0" algn="ctr">
              <a:buNone/>
            </a:pPr>
            <a:r>
              <a:rPr lang="en-US" sz="2400" b="1" dirty="0">
                <a:solidFill>
                  <a:srgbClr val="8B98AC"/>
                </a:solidFill>
                <a:latin typeface="Calibri" pitchFamily="34" charset="0"/>
                <a:ea typeface="Calibri" pitchFamily="34" charset="-122"/>
                <a:cs typeface="Calibri" pitchFamily="34" charset="-120"/>
              </a:rPr>
              <a:t>→</a:t>
            </a:r>
            <a:endParaRPr lang="en-US" sz="2400" dirty="0"/>
          </a:p>
        </p:txBody>
      </p:sp>
      <p:sp>
        <p:nvSpPr>
          <p:cNvPr id="17" name="Shape 15"/>
          <p:cNvSpPr/>
          <p:nvPr/>
        </p:nvSpPr>
        <p:spPr>
          <a:xfrm>
            <a:off x="8138160" y="1920240"/>
            <a:ext cx="3429000" cy="2286000"/>
          </a:xfrm>
          <a:prstGeom prst="roundRect">
            <a:avLst>
              <a:gd name="adj" fmla="val 4000"/>
            </a:avLst>
          </a:prstGeom>
          <a:solidFill>
            <a:srgbClr val="1B2333"/>
          </a:solidFill>
          <a:ln w="16510">
            <a:solidFill>
              <a:srgbClr val="7EE787"/>
            </a:solidFill>
            <a:prstDash val="solid"/>
          </a:ln>
        </p:spPr>
        <p:txBody>
          <a:bodyPr/>
          <a:lstStyle/>
          <a:p>
            <a:endParaRPr lang="en-GB"/>
          </a:p>
        </p:txBody>
      </p:sp>
      <p:sp>
        <p:nvSpPr>
          <p:cNvPr id="18" name="Shape 16"/>
          <p:cNvSpPr/>
          <p:nvPr/>
        </p:nvSpPr>
        <p:spPr>
          <a:xfrm>
            <a:off x="8366760" y="2103120"/>
            <a:ext cx="457200" cy="457200"/>
          </a:xfrm>
          <a:prstGeom prst="ellipse">
            <a:avLst/>
          </a:prstGeom>
          <a:solidFill>
            <a:srgbClr val="7EE787"/>
          </a:solidFill>
          <a:ln/>
        </p:spPr>
        <p:txBody>
          <a:bodyPr/>
          <a:lstStyle/>
          <a:p>
            <a:endParaRPr lang="en-GB"/>
          </a:p>
        </p:txBody>
      </p:sp>
      <p:sp>
        <p:nvSpPr>
          <p:cNvPr id="19" name="Text 17"/>
          <p:cNvSpPr/>
          <p:nvPr/>
        </p:nvSpPr>
        <p:spPr>
          <a:xfrm>
            <a:off x="8366760" y="2103120"/>
            <a:ext cx="457200" cy="45720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3</a:t>
            </a:r>
            <a:endParaRPr lang="en-US" sz="1400" dirty="0"/>
          </a:p>
        </p:txBody>
      </p:sp>
      <p:sp>
        <p:nvSpPr>
          <p:cNvPr id="20" name="Text 18"/>
          <p:cNvSpPr/>
          <p:nvPr/>
        </p:nvSpPr>
        <p:spPr>
          <a:xfrm>
            <a:off x="8915400" y="2121408"/>
            <a:ext cx="2560320" cy="457200"/>
          </a:xfrm>
          <a:prstGeom prst="rect">
            <a:avLst/>
          </a:prstGeom>
          <a:noFill/>
          <a:ln/>
        </p:spPr>
        <p:txBody>
          <a:bodyPr wrap="square" rtlCol="0" anchor="ctr"/>
          <a:lstStyle/>
          <a:p>
            <a:pPr marL="0" indent="0">
              <a:buNone/>
            </a:pPr>
            <a:r>
              <a:rPr lang="en-US" sz="1300" b="1" dirty="0">
                <a:solidFill>
                  <a:srgbClr val="7EE787"/>
                </a:solidFill>
                <a:latin typeface="Courier New" pitchFamily="34" charset="0"/>
                <a:ea typeface="Courier New" pitchFamily="34" charset="-122"/>
                <a:cs typeface="Courier New" pitchFamily="34" charset="-120"/>
              </a:rPr>
              <a:t>Semestry</a:t>
            </a:r>
            <a:endParaRPr lang="en-US" sz="1300" dirty="0"/>
          </a:p>
        </p:txBody>
      </p:sp>
      <p:sp>
        <p:nvSpPr>
          <p:cNvPr id="21" name="Text 19"/>
          <p:cNvSpPr/>
          <p:nvPr/>
        </p:nvSpPr>
        <p:spPr>
          <a:xfrm>
            <a:off x="8366760" y="2743200"/>
            <a:ext cx="3017520" cy="1280160"/>
          </a:xfrm>
          <a:prstGeom prst="rect">
            <a:avLst/>
          </a:prstGeom>
          <a:noFill/>
          <a:ln/>
        </p:spPr>
        <p:txBody>
          <a:bodyPr wrap="square" rtlCol="0" anchor="ctr"/>
          <a:lstStyle/>
          <a:p>
            <a:pPr marL="0" indent="0">
              <a:lnSpc>
                <a:spcPct val="115000"/>
              </a:lnSpc>
              <a:buNone/>
            </a:pPr>
            <a:r>
              <a:rPr lang="en-US" sz="1250" dirty="0">
                <a:solidFill>
                  <a:srgbClr val="8B98AC"/>
                </a:solidFill>
                <a:latin typeface="Calibri" pitchFamily="34" charset="0"/>
                <a:ea typeface="Calibri" pitchFamily="34" charset="-122"/>
                <a:cs typeface="Calibri" pitchFamily="34" charset="-120"/>
              </a:rPr>
              <a:t>pro každý _action:'create'</a:t>
            </a:r>
            <a:endParaRPr lang="en-US" sz="1250" dirty="0"/>
          </a:p>
          <a:p>
            <a:pPr marL="0" indent="0">
              <a:lnSpc>
                <a:spcPct val="115000"/>
              </a:lnSpc>
              <a:buNone/>
            </a:pPr>
            <a:r>
              <a:rPr lang="en-US" sz="1250" dirty="0">
                <a:solidFill>
                  <a:srgbClr val="8B98AC"/>
                </a:solidFill>
                <a:latin typeface="Calibri" pitchFamily="34" charset="0"/>
                <a:ea typeface="Calibri" pitchFamily="34" charset="-122"/>
                <a:cs typeface="Calibri" pitchFamily="34" charset="-120"/>
              </a:rPr>
              <a:t>SemesterInsertAsyncAction</a:t>
            </a:r>
            <a:endParaRPr lang="en-US" sz="1250" dirty="0"/>
          </a:p>
        </p:txBody>
      </p:sp>
      <p:sp>
        <p:nvSpPr>
          <p:cNvPr id="22" name="Shape 20"/>
          <p:cNvSpPr/>
          <p:nvPr/>
        </p:nvSpPr>
        <p:spPr>
          <a:xfrm>
            <a:off x="548640" y="4434840"/>
            <a:ext cx="11064240" cy="1691640"/>
          </a:xfrm>
          <a:prstGeom prst="roundRect">
            <a:avLst>
              <a:gd name="adj" fmla="val 3243"/>
            </a:avLst>
          </a:prstGeom>
          <a:solidFill>
            <a:srgbClr val="10161F"/>
          </a:solidFill>
          <a:ln w="12700">
            <a:solidFill>
              <a:srgbClr val="2C3A52"/>
            </a:solidFill>
            <a:prstDash val="solid"/>
          </a:ln>
        </p:spPr>
        <p:txBody>
          <a:bodyPr/>
          <a:lstStyle/>
          <a:p>
            <a:endParaRPr lang="en-GB"/>
          </a:p>
        </p:txBody>
      </p:sp>
      <p:sp>
        <p:nvSpPr>
          <p:cNvPr id="23" name="Text 21"/>
          <p:cNvSpPr/>
          <p:nvPr/>
        </p:nvSpPr>
        <p:spPr>
          <a:xfrm>
            <a:off x="658368" y="4507992"/>
            <a:ext cx="10844784" cy="1545336"/>
          </a:xfrm>
          <a:prstGeom prst="rect">
            <a:avLst/>
          </a:prstGeom>
          <a:noFill/>
          <a:ln/>
        </p:spPr>
        <p:txBody>
          <a:bodyPr wrap="square" lIns="0" tIns="0" rIns="0" bIns="0" rtlCol="0" anchor="t"/>
          <a:lstStyle/>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if (!draftItem.programId) { setError('Musíte vybrat program'); return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const res = await dispatch(InsertAsyncAction(draftItem, gqlClient))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const subjectId = res?.data?.subjectInsert?.id || draftItem.id</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for (const sem of semestersToCreate) await dispatch(SemesterInsertAsyncAction({ ...sem, subjectId }))</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rtlCol="0" anchor="ctr"/>
          <a:lstStyle/>
          <a:p>
            <a:pPr marL="0" indent="0">
              <a:buNone/>
            </a:pPr>
            <a:r>
              <a:rPr lang="en-US" sz="1200" b="1" kern="0" spc="200" dirty="0">
                <a:solidFill>
                  <a:srgbClr val="F0A868"/>
                </a:solidFill>
                <a:latin typeface="Calibri" pitchFamily="34" charset="0"/>
                <a:ea typeface="Calibri" pitchFamily="34" charset="-122"/>
                <a:cs typeface="Calibri" pitchFamily="34" charset="-120"/>
              </a:rPr>
              <a:t>DELETE</a:t>
            </a:r>
            <a:endParaRPr lang="en-US" sz="1200" dirty="0"/>
          </a:p>
        </p:txBody>
      </p:sp>
      <p:sp>
        <p:nvSpPr>
          <p:cNvPr id="3" name="Text 1"/>
          <p:cNvSpPr/>
          <p:nvPr/>
        </p:nvSpPr>
        <p:spPr>
          <a:xfrm>
            <a:off x="548640" y="640080"/>
            <a:ext cx="11064240" cy="68580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Kaskádové mazání předmětu</a:t>
            </a:r>
            <a:endParaRPr lang="en-US" sz="3000" dirty="0"/>
          </a:p>
        </p:txBody>
      </p:sp>
      <p:sp>
        <p:nvSpPr>
          <p:cNvPr id="4" name="Text 2"/>
          <p:cNvSpPr/>
          <p:nvPr/>
        </p:nvSpPr>
        <p:spPr>
          <a:xfrm>
            <a:off x="548640" y="1417320"/>
            <a:ext cx="11155680" cy="365760"/>
          </a:xfrm>
          <a:prstGeom prst="rect">
            <a:avLst/>
          </a:prstGeom>
          <a:noFill/>
          <a:ln/>
        </p:spPr>
        <p:txBody>
          <a:bodyPr wrap="square" rtlCol="0" anchor="ctr"/>
          <a:lstStyle/>
          <a:p>
            <a:pPr marL="0" indent="0">
              <a:buNone/>
            </a:pPr>
            <a:r>
              <a:rPr lang="en-US" sz="1400" dirty="0">
                <a:solidFill>
                  <a:srgbClr val="8B98AC"/>
                </a:solidFill>
                <a:latin typeface="Calibri" pitchFamily="34" charset="0"/>
                <a:ea typeface="Calibri" pitchFamily="34" charset="-122"/>
                <a:cs typeface="Calibri" pitchFamily="34" charset="-120"/>
              </a:rPr>
              <a:t>Kvůli foreign key: nejdřív se smažou všechny semestry, teprve pak samotný předmět.</a:t>
            </a:r>
            <a:endParaRPr lang="en-US" sz="1400" dirty="0"/>
          </a:p>
        </p:txBody>
      </p:sp>
      <p:sp>
        <p:nvSpPr>
          <p:cNvPr id="5" name="Shape 3"/>
          <p:cNvSpPr/>
          <p:nvPr/>
        </p:nvSpPr>
        <p:spPr>
          <a:xfrm>
            <a:off x="548640" y="1920240"/>
            <a:ext cx="6583680" cy="4160520"/>
          </a:xfrm>
          <a:prstGeom prst="roundRect">
            <a:avLst>
              <a:gd name="adj" fmla="val 1319"/>
            </a:avLst>
          </a:prstGeom>
          <a:solidFill>
            <a:srgbClr val="10161F"/>
          </a:solidFill>
          <a:ln w="12700">
            <a:solidFill>
              <a:srgbClr val="2C3A52"/>
            </a:solidFill>
            <a:prstDash val="solid"/>
          </a:ln>
        </p:spPr>
        <p:txBody>
          <a:bodyPr/>
          <a:lstStyle/>
          <a:p>
            <a:endParaRPr lang="en-GB"/>
          </a:p>
        </p:txBody>
      </p:sp>
      <p:sp>
        <p:nvSpPr>
          <p:cNvPr id="6" name="Text 4"/>
          <p:cNvSpPr/>
          <p:nvPr/>
        </p:nvSpPr>
        <p:spPr>
          <a:xfrm>
            <a:off x="658368" y="1993392"/>
            <a:ext cx="6364224" cy="4014216"/>
          </a:xfrm>
          <a:prstGeom prst="rect">
            <a:avLst/>
          </a:prstGeom>
          <a:noFill/>
          <a:ln/>
        </p:spPr>
        <p:txBody>
          <a:bodyPr wrap="square" lIns="0" tIns="0" rIns="0" bIns="0" rtlCol="0" anchor="t"/>
          <a:lstStyle/>
          <a:p>
            <a:pPr marL="0" indent="0" algn="l">
              <a:lnSpc>
                <a:spcPct val="105000"/>
              </a:lnSpc>
              <a:buNone/>
            </a:pPr>
            <a:r>
              <a:rPr lang="en-US" sz="1150" dirty="0">
                <a:solidFill>
                  <a:srgbClr val="8B98AC"/>
                </a:solidFill>
                <a:latin typeface="Courier New" pitchFamily="34" charset="0"/>
                <a:ea typeface="Courier New" pitchFamily="34" charset="-122"/>
                <a:cs typeface="Courier New" pitchFamily="34" charset="-120"/>
              </a:rPr>
              <a:t>// 1) smaž všechny semestry předmětu</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for (const semester of item.semesters)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const res = await dispatch(</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SemesterDeleteAsyncAction({</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id: semester.id,</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lastchange: semester.lastchange</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 gqlClient))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if (res?.msg?.includes('ForeignKey'))</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throw 'obsahuje klasifikace'</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marL="0" indent="0" algn="l">
              <a:lnSpc>
                <a:spcPct val="105000"/>
              </a:lnSpc>
              <a:buNone/>
            </a:pPr>
            <a:r>
              <a:rPr lang="en-US" sz="1150" dirty="0">
                <a:solidFill>
                  <a:srgbClr val="8B98AC"/>
                </a:solidFill>
                <a:latin typeface="Courier New" pitchFamily="34" charset="0"/>
                <a:ea typeface="Courier New" pitchFamily="34" charset="-122"/>
                <a:cs typeface="Courier New" pitchFamily="34" charset="-120"/>
              </a:rPr>
              <a:t>// 2) teprve pak smaž předmět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await dispatch(DeleteAsyncAction({</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id: item.id, lastchange: item.lastchange</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
        <p:nvSpPr>
          <p:cNvPr id="7" name="Shape 5"/>
          <p:cNvSpPr/>
          <p:nvPr/>
        </p:nvSpPr>
        <p:spPr>
          <a:xfrm>
            <a:off x="7406640" y="1920240"/>
            <a:ext cx="4206240" cy="4160520"/>
          </a:xfrm>
          <a:prstGeom prst="roundRect">
            <a:avLst>
              <a:gd name="adj" fmla="val 2198"/>
            </a:avLst>
          </a:prstGeom>
          <a:solidFill>
            <a:srgbClr val="1B2333"/>
          </a:solidFill>
          <a:ln w="15240">
            <a:solidFill>
              <a:srgbClr val="F0A868"/>
            </a:solidFill>
            <a:prstDash val="solid"/>
          </a:ln>
        </p:spPr>
        <p:txBody>
          <a:bodyPr/>
          <a:lstStyle/>
          <a:p>
            <a:endParaRPr lang="en-GB"/>
          </a:p>
        </p:txBody>
      </p:sp>
      <p:sp>
        <p:nvSpPr>
          <p:cNvPr id="8" name="Text 6"/>
          <p:cNvSpPr/>
          <p:nvPr/>
        </p:nvSpPr>
        <p:spPr>
          <a:xfrm>
            <a:off x="7635240" y="2103120"/>
            <a:ext cx="3749040" cy="365760"/>
          </a:xfrm>
          <a:prstGeom prst="rect">
            <a:avLst/>
          </a:prstGeom>
          <a:noFill/>
          <a:ln/>
        </p:spPr>
        <p:txBody>
          <a:bodyPr wrap="square" rtlCol="0" anchor="ctr"/>
          <a:lstStyle/>
          <a:p>
            <a:pPr marL="0" indent="0">
              <a:buNone/>
            </a:pPr>
            <a:r>
              <a:rPr lang="en-US" sz="1600" b="1" dirty="0">
                <a:solidFill>
                  <a:srgbClr val="F0A868"/>
                </a:solidFill>
                <a:latin typeface="Cambria" pitchFamily="34" charset="0"/>
                <a:ea typeface="Cambria" pitchFamily="34" charset="-122"/>
                <a:cs typeface="Cambria" pitchFamily="34" charset="-120"/>
              </a:rPr>
              <a:t>Ošetření</a:t>
            </a:r>
            <a:endParaRPr lang="en-US" sz="1600" dirty="0"/>
          </a:p>
        </p:txBody>
      </p:sp>
      <p:sp>
        <p:nvSpPr>
          <p:cNvPr id="9" name="Shape 7"/>
          <p:cNvSpPr/>
          <p:nvPr/>
        </p:nvSpPr>
        <p:spPr>
          <a:xfrm>
            <a:off x="7635240" y="2606040"/>
            <a:ext cx="365760" cy="365760"/>
          </a:xfrm>
          <a:prstGeom prst="ellipse">
            <a:avLst/>
          </a:prstGeom>
          <a:solidFill>
            <a:srgbClr val="F0A868"/>
          </a:solidFill>
          <a:ln/>
        </p:spPr>
        <p:txBody>
          <a:bodyPr/>
          <a:lstStyle/>
          <a:p>
            <a:endParaRPr lang="en-GB"/>
          </a:p>
        </p:txBody>
      </p:sp>
      <p:sp>
        <p:nvSpPr>
          <p:cNvPr id="10" name="Text 8"/>
          <p:cNvSpPr/>
          <p:nvPr/>
        </p:nvSpPr>
        <p:spPr>
          <a:xfrm>
            <a:off x="7635240" y="2606040"/>
            <a:ext cx="365760" cy="36576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11" name="Text 9"/>
          <p:cNvSpPr/>
          <p:nvPr/>
        </p:nvSpPr>
        <p:spPr>
          <a:xfrm>
            <a:off x="8138160" y="2560320"/>
            <a:ext cx="3291840" cy="365760"/>
          </a:xfrm>
          <a:prstGeom prst="rect">
            <a:avLst/>
          </a:prstGeom>
          <a:noFill/>
          <a:ln/>
        </p:spPr>
        <p:txBody>
          <a:bodyPr wrap="square" rtlCol="0" anchor="ctr"/>
          <a:lstStyle/>
          <a:p>
            <a:pPr marL="0" indent="0">
              <a:buNone/>
            </a:pPr>
            <a:r>
              <a:rPr lang="en-US" sz="1400" b="1" dirty="0">
                <a:solidFill>
                  <a:srgbClr val="F0A868"/>
                </a:solidFill>
                <a:latin typeface="Cambria" pitchFamily="34" charset="0"/>
                <a:ea typeface="Cambria" pitchFamily="34" charset="-122"/>
                <a:cs typeface="Cambria" pitchFamily="34" charset="-120"/>
              </a:rPr>
              <a:t>Potvrzovací dialog</a:t>
            </a:r>
            <a:endParaRPr lang="en-US" sz="1400" dirty="0"/>
          </a:p>
        </p:txBody>
      </p:sp>
      <p:sp>
        <p:nvSpPr>
          <p:cNvPr id="12" name="Text 10"/>
          <p:cNvSpPr/>
          <p:nvPr/>
        </p:nvSpPr>
        <p:spPr>
          <a:xfrm>
            <a:off x="8138160" y="2898648"/>
            <a:ext cx="3337560" cy="640080"/>
          </a:xfrm>
          <a:prstGeom prst="rect">
            <a:avLst/>
          </a:prstGeom>
          <a:noFill/>
          <a:ln/>
        </p:spPr>
        <p:txBody>
          <a:bodyPr wrap="square" rtlCol="0" anchor="ctr"/>
          <a:lstStyle/>
          <a:p>
            <a:pPr marL="0" indent="0">
              <a:lnSpc>
                <a:spcPct val="105000"/>
              </a:lnSpc>
              <a:buNone/>
            </a:pPr>
            <a:r>
              <a:rPr lang="en-US" sz="1200" dirty="0">
                <a:solidFill>
                  <a:srgbClr val="8B98AC"/>
                </a:solidFill>
                <a:latin typeface="Calibri" pitchFamily="34" charset="0"/>
                <a:ea typeface="Calibri" pitchFamily="34" charset="-122"/>
                <a:cs typeface="Calibri" pitchFamily="34" charset="-120"/>
              </a:rPr>
              <a:t>upozorní, kolik semestrů se smaže</a:t>
            </a:r>
            <a:endParaRPr lang="en-US" sz="1200" dirty="0"/>
          </a:p>
        </p:txBody>
      </p:sp>
      <p:sp>
        <p:nvSpPr>
          <p:cNvPr id="13" name="Shape 11"/>
          <p:cNvSpPr/>
          <p:nvPr/>
        </p:nvSpPr>
        <p:spPr>
          <a:xfrm>
            <a:off x="7635240" y="3703320"/>
            <a:ext cx="365760" cy="365760"/>
          </a:xfrm>
          <a:prstGeom prst="ellipse">
            <a:avLst/>
          </a:prstGeom>
          <a:solidFill>
            <a:srgbClr val="F778BA"/>
          </a:solidFill>
          <a:ln/>
        </p:spPr>
        <p:txBody>
          <a:bodyPr/>
          <a:lstStyle/>
          <a:p>
            <a:endParaRPr lang="en-GB"/>
          </a:p>
        </p:txBody>
      </p:sp>
      <p:sp>
        <p:nvSpPr>
          <p:cNvPr id="14" name="Text 12"/>
          <p:cNvSpPr/>
          <p:nvPr/>
        </p:nvSpPr>
        <p:spPr>
          <a:xfrm>
            <a:off x="7635240" y="3703320"/>
            <a:ext cx="365760" cy="36576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15" name="Text 13"/>
          <p:cNvSpPr/>
          <p:nvPr/>
        </p:nvSpPr>
        <p:spPr>
          <a:xfrm>
            <a:off x="8138160" y="3657600"/>
            <a:ext cx="3291840" cy="365760"/>
          </a:xfrm>
          <a:prstGeom prst="rect">
            <a:avLst/>
          </a:prstGeom>
          <a:noFill/>
          <a:ln/>
        </p:spPr>
        <p:txBody>
          <a:bodyPr wrap="square" rtlCol="0" anchor="ctr"/>
          <a:lstStyle/>
          <a:p>
            <a:pPr marL="0" indent="0">
              <a:buNone/>
            </a:pPr>
            <a:r>
              <a:rPr lang="en-US" sz="1400" b="1" dirty="0">
                <a:solidFill>
                  <a:srgbClr val="F778BA"/>
                </a:solidFill>
                <a:latin typeface="Cambria" pitchFamily="34" charset="0"/>
                <a:ea typeface="Cambria" pitchFamily="34" charset="-122"/>
                <a:cs typeface="Cambria" pitchFamily="34" charset="-120"/>
              </a:rPr>
              <a:t>Foreign key</a:t>
            </a:r>
            <a:endParaRPr lang="en-US" sz="1400" dirty="0"/>
          </a:p>
        </p:txBody>
      </p:sp>
      <p:sp>
        <p:nvSpPr>
          <p:cNvPr id="16" name="Text 14"/>
          <p:cNvSpPr/>
          <p:nvPr/>
        </p:nvSpPr>
        <p:spPr>
          <a:xfrm>
            <a:off x="8138160" y="3995928"/>
            <a:ext cx="3337560" cy="640080"/>
          </a:xfrm>
          <a:prstGeom prst="rect">
            <a:avLst/>
          </a:prstGeom>
          <a:noFill/>
          <a:ln/>
        </p:spPr>
        <p:txBody>
          <a:bodyPr wrap="square" rtlCol="0" anchor="ctr"/>
          <a:lstStyle/>
          <a:p>
            <a:pPr marL="0" indent="0">
              <a:lnSpc>
                <a:spcPct val="105000"/>
              </a:lnSpc>
              <a:buNone/>
            </a:pPr>
            <a:r>
              <a:rPr lang="en-US" sz="1200" dirty="0">
                <a:solidFill>
                  <a:srgbClr val="8B98AC"/>
                </a:solidFill>
                <a:latin typeface="Calibri" pitchFamily="34" charset="0"/>
                <a:ea typeface="Calibri" pitchFamily="34" charset="-122"/>
                <a:cs typeface="Calibri" pitchFamily="34" charset="-120"/>
              </a:rPr>
              <a:t>srozumitelná hláška místo DB chyby</a:t>
            </a:r>
            <a:endParaRPr lang="en-US" sz="1200" dirty="0"/>
          </a:p>
        </p:txBody>
      </p:sp>
      <p:sp>
        <p:nvSpPr>
          <p:cNvPr id="17" name="Shape 15"/>
          <p:cNvSpPr/>
          <p:nvPr/>
        </p:nvSpPr>
        <p:spPr>
          <a:xfrm>
            <a:off x="7635240" y="4800600"/>
            <a:ext cx="365760" cy="365760"/>
          </a:xfrm>
          <a:prstGeom prst="ellipse">
            <a:avLst/>
          </a:prstGeom>
          <a:solidFill>
            <a:srgbClr val="4FC3F7"/>
          </a:solidFill>
          <a:ln/>
        </p:spPr>
        <p:txBody>
          <a:bodyPr/>
          <a:lstStyle/>
          <a:p>
            <a:endParaRPr lang="en-GB"/>
          </a:p>
        </p:txBody>
      </p:sp>
      <p:sp>
        <p:nvSpPr>
          <p:cNvPr id="18" name="Text 16"/>
          <p:cNvSpPr/>
          <p:nvPr/>
        </p:nvSpPr>
        <p:spPr>
          <a:xfrm>
            <a:off x="7635240" y="4800600"/>
            <a:ext cx="365760" cy="36576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a:t>
            </a:r>
            <a:endParaRPr lang="en-US" sz="1400" dirty="0"/>
          </a:p>
        </p:txBody>
      </p:sp>
      <p:sp>
        <p:nvSpPr>
          <p:cNvPr id="19" name="Text 17"/>
          <p:cNvSpPr/>
          <p:nvPr/>
        </p:nvSpPr>
        <p:spPr>
          <a:xfrm>
            <a:off x="8138160" y="4754880"/>
            <a:ext cx="3291840" cy="365760"/>
          </a:xfrm>
          <a:prstGeom prst="rect">
            <a:avLst/>
          </a:prstGeom>
          <a:noFill/>
          <a:ln/>
        </p:spPr>
        <p:txBody>
          <a:bodyPr wrap="square" rtlCol="0" anchor="ctr"/>
          <a:lstStyle/>
          <a:p>
            <a:pPr marL="0" indent="0">
              <a:buNone/>
            </a:pPr>
            <a:r>
              <a:rPr lang="en-US" sz="1400" b="1" dirty="0">
                <a:solidFill>
                  <a:srgbClr val="4FC3F7"/>
                </a:solidFill>
                <a:latin typeface="Cambria" pitchFamily="34" charset="0"/>
                <a:ea typeface="Cambria" pitchFamily="34" charset="-122"/>
                <a:cs typeface="Cambria" pitchFamily="34" charset="-120"/>
              </a:rPr>
              <a:t>Optimistic locking</a:t>
            </a:r>
            <a:endParaRPr lang="en-US" sz="1400" dirty="0"/>
          </a:p>
        </p:txBody>
      </p:sp>
      <p:sp>
        <p:nvSpPr>
          <p:cNvPr id="20" name="Text 18"/>
          <p:cNvSpPr/>
          <p:nvPr/>
        </p:nvSpPr>
        <p:spPr>
          <a:xfrm>
            <a:off x="8138160" y="5093208"/>
            <a:ext cx="3337560" cy="640080"/>
          </a:xfrm>
          <a:prstGeom prst="rect">
            <a:avLst/>
          </a:prstGeom>
          <a:noFill/>
          <a:ln/>
        </p:spPr>
        <p:txBody>
          <a:bodyPr wrap="square" rtlCol="0" anchor="ctr"/>
          <a:lstStyle/>
          <a:p>
            <a:pPr marL="0" indent="0">
              <a:lnSpc>
                <a:spcPct val="105000"/>
              </a:lnSpc>
              <a:buNone/>
            </a:pPr>
            <a:r>
              <a:rPr lang="en-US" sz="1200" dirty="0">
                <a:solidFill>
                  <a:srgbClr val="8B98AC"/>
                </a:solidFill>
                <a:latin typeface="Calibri" pitchFamily="34" charset="0"/>
                <a:ea typeface="Calibri" pitchFamily="34" charset="-122"/>
                <a:cs typeface="Calibri" pitchFamily="34" charset="-120"/>
              </a:rPr>
              <a:t>delete vyžaduje aktuální lastchange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rtlCol="0" anchor="ctr"/>
          <a:lstStyle/>
          <a:p>
            <a:pPr marL="0" indent="0">
              <a:buNone/>
            </a:pPr>
            <a:r>
              <a:rPr lang="en-US" sz="1200" b="1" kern="0" spc="200" dirty="0">
                <a:solidFill>
                  <a:srgbClr val="7EE787"/>
                </a:solidFill>
                <a:latin typeface="Calibri" pitchFamily="34" charset="0"/>
                <a:ea typeface="Calibri" pitchFamily="34" charset="-122"/>
                <a:cs typeface="Calibri" pitchFamily="34" charset="-120"/>
              </a:rPr>
              <a:t>GENEROVÁNÍ DA</a:t>
            </a:r>
            <a:r>
              <a:rPr lang="sk-SK" sz="1200" b="1" kern="0" spc="200" dirty="0">
                <a:solidFill>
                  <a:srgbClr val="7EE787"/>
                </a:solidFill>
                <a:latin typeface="Calibri" pitchFamily="34" charset="0"/>
                <a:ea typeface="Calibri" pitchFamily="34" charset="-122"/>
                <a:cs typeface="Calibri" pitchFamily="34" charset="-120"/>
              </a:rPr>
              <a:t>T</a:t>
            </a:r>
            <a:endParaRPr lang="en-US" sz="1200" dirty="0"/>
          </a:p>
        </p:txBody>
      </p:sp>
      <p:sp>
        <p:nvSpPr>
          <p:cNvPr id="3" name="Text 1"/>
          <p:cNvSpPr/>
          <p:nvPr/>
        </p:nvSpPr>
        <p:spPr>
          <a:xfrm>
            <a:off x="548640" y="640080"/>
            <a:ext cx="11064240" cy="68580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Generátor předmětů</a:t>
            </a:r>
            <a:endParaRPr lang="en-US" sz="3000" dirty="0"/>
          </a:p>
        </p:txBody>
      </p:sp>
      <p:sp>
        <p:nvSpPr>
          <p:cNvPr id="6" name="Text 4"/>
          <p:cNvSpPr/>
          <p:nvPr/>
        </p:nvSpPr>
        <p:spPr>
          <a:xfrm>
            <a:off x="548640" y="1417320"/>
            <a:ext cx="11338560" cy="365760"/>
          </a:xfrm>
          <a:prstGeom prst="rect">
            <a:avLst/>
          </a:prstGeom>
          <a:noFill/>
          <a:ln/>
        </p:spPr>
        <p:txBody>
          <a:bodyPr wrap="square" rtlCol="0" anchor="ctr"/>
          <a:lstStyle/>
          <a:p>
            <a:pPr marL="0" indent="0">
              <a:buNone/>
            </a:pPr>
            <a:r>
              <a:rPr lang="en-US" sz="1400" dirty="0">
                <a:solidFill>
                  <a:srgbClr val="8B98AC"/>
                </a:solidFill>
                <a:latin typeface="Calibri" pitchFamily="34" charset="0"/>
                <a:ea typeface="Calibri" pitchFamily="34" charset="-122"/>
                <a:cs typeface="Calibri" pitchFamily="34" charset="-120"/>
              </a:rPr>
              <a:t>GenerateForm + generatorUtils: kombinace přídavných a podstatných jmen dle české gramatiky.</a:t>
            </a:r>
            <a:endParaRPr lang="en-US" sz="1400" dirty="0"/>
          </a:p>
        </p:txBody>
      </p:sp>
      <p:sp>
        <p:nvSpPr>
          <p:cNvPr id="7" name="Shape 5"/>
          <p:cNvSpPr/>
          <p:nvPr/>
        </p:nvSpPr>
        <p:spPr>
          <a:xfrm>
            <a:off x="548640" y="1920240"/>
            <a:ext cx="6035040" cy="4160520"/>
          </a:xfrm>
          <a:prstGeom prst="roundRect">
            <a:avLst>
              <a:gd name="adj" fmla="val 1319"/>
            </a:avLst>
          </a:prstGeom>
          <a:solidFill>
            <a:srgbClr val="10161F"/>
          </a:solidFill>
          <a:ln w="12700">
            <a:solidFill>
              <a:srgbClr val="2C3A52"/>
            </a:solidFill>
            <a:prstDash val="solid"/>
          </a:ln>
        </p:spPr>
        <p:txBody>
          <a:bodyPr/>
          <a:lstStyle/>
          <a:p>
            <a:endParaRPr lang="en-GB"/>
          </a:p>
        </p:txBody>
      </p:sp>
      <p:sp>
        <p:nvSpPr>
          <p:cNvPr id="8" name="Text 6"/>
          <p:cNvSpPr/>
          <p:nvPr/>
        </p:nvSpPr>
        <p:spPr>
          <a:xfrm>
            <a:off x="658368" y="1993392"/>
            <a:ext cx="5815584" cy="4014216"/>
          </a:xfrm>
          <a:prstGeom prst="rect">
            <a:avLst/>
          </a:prstGeom>
          <a:noFill/>
          <a:ln/>
        </p:spPr>
        <p:txBody>
          <a:bodyPr wrap="square" lIns="0" tIns="0" rIns="0" bIns="0" rtlCol="0" anchor="t"/>
          <a:lstStyle/>
          <a:p>
            <a:pPr marL="0" indent="0" algn="l">
              <a:lnSpc>
                <a:spcPct val="105000"/>
              </a:lnSpc>
              <a:buNone/>
            </a:pPr>
            <a:r>
              <a:rPr lang="en-US" sz="1150" dirty="0">
                <a:solidFill>
                  <a:srgbClr val="8B98AC"/>
                </a:solidFill>
                <a:latin typeface="Courier New" pitchFamily="34" charset="0"/>
                <a:ea typeface="Courier New" pitchFamily="34" charset="-122"/>
                <a:cs typeface="Courier New" pitchFamily="34" charset="-120"/>
              </a:rPr>
              <a:t>// koncovka podle rodu podst. jména</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switch (subject.type) {</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case 'zensky':  result += 'á'; break;</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case 'stredni': result += 'é'; break;</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case 'muzsky':  result += 'ý'; break;</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case 'mnozne':  result += 'é'; break;</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marL="0" indent="0" algn="l">
              <a:lnSpc>
                <a:spcPct val="105000"/>
              </a:lnSpc>
              <a:buNone/>
            </a:pPr>
            <a:r>
              <a:rPr lang="en-US" sz="1150" dirty="0">
                <a:solidFill>
                  <a:srgbClr val="8B98AC"/>
                </a:solidFill>
                <a:latin typeface="Courier New" pitchFamily="34" charset="0"/>
                <a:ea typeface="Courier New" pitchFamily="34" charset="-122"/>
                <a:cs typeface="Courier New" pitchFamily="34" charset="-120"/>
              </a:rPr>
              <a:t>// 'tvrde' → skloňuje, 'mekke' → přímo</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marL="0" indent="0" algn="l">
              <a:lnSpc>
                <a:spcPct val="105000"/>
              </a:lnSpc>
              <a:buNone/>
            </a:pPr>
            <a:r>
              <a:rPr lang="en-US" sz="1150" dirty="0">
                <a:solidFill>
                  <a:srgbClr val="8B98AC"/>
                </a:solidFill>
                <a:latin typeface="Courier New" pitchFamily="34" charset="0"/>
                <a:ea typeface="Courier New" pitchFamily="34" charset="-122"/>
                <a:cs typeface="Courier New" pitchFamily="34" charset="-120"/>
              </a:rPr>
              <a:t>// unikátní kombinace bez duplicit</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generateUniqueSubjects({</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subjects, adjectives, count })</a:t>
            </a:r>
            <a:endParaRPr lang="en-US" sz="1150" dirty="0"/>
          </a:p>
        </p:txBody>
      </p:sp>
      <p:sp>
        <p:nvSpPr>
          <p:cNvPr id="9" name="Shape 7"/>
          <p:cNvSpPr/>
          <p:nvPr/>
        </p:nvSpPr>
        <p:spPr>
          <a:xfrm>
            <a:off x="6858000" y="1920240"/>
            <a:ext cx="4754880" cy="4160520"/>
          </a:xfrm>
          <a:prstGeom prst="roundRect">
            <a:avLst>
              <a:gd name="adj" fmla="val 2198"/>
            </a:avLst>
          </a:prstGeom>
          <a:solidFill>
            <a:srgbClr val="1B2333"/>
          </a:solidFill>
          <a:ln w="15240">
            <a:solidFill>
              <a:srgbClr val="7EE787"/>
            </a:solidFill>
            <a:prstDash val="solid"/>
          </a:ln>
        </p:spPr>
        <p:txBody>
          <a:bodyPr/>
          <a:lstStyle/>
          <a:p>
            <a:endParaRPr lang="en-GB"/>
          </a:p>
        </p:txBody>
      </p:sp>
      <p:sp>
        <p:nvSpPr>
          <p:cNvPr id="10" name="Text 8"/>
          <p:cNvSpPr/>
          <p:nvPr/>
        </p:nvSpPr>
        <p:spPr>
          <a:xfrm>
            <a:off x="7086600" y="2103120"/>
            <a:ext cx="4297680" cy="365760"/>
          </a:xfrm>
          <a:prstGeom prst="rect">
            <a:avLst/>
          </a:prstGeom>
          <a:noFill/>
          <a:ln/>
        </p:spPr>
        <p:txBody>
          <a:bodyPr wrap="square" rtlCol="0" anchor="ctr"/>
          <a:lstStyle/>
          <a:p>
            <a:pPr marL="0" indent="0">
              <a:buNone/>
            </a:pPr>
            <a:r>
              <a:rPr lang="en-US" sz="1600" b="1" dirty="0">
                <a:solidFill>
                  <a:srgbClr val="7EE787"/>
                </a:solidFill>
                <a:latin typeface="Cambria" pitchFamily="34" charset="0"/>
                <a:ea typeface="Cambria" pitchFamily="34" charset="-122"/>
                <a:cs typeface="Cambria" pitchFamily="34" charset="-120"/>
              </a:rPr>
              <a:t>Co generátor umí</a:t>
            </a:r>
            <a:endParaRPr lang="en-US" sz="1600" dirty="0"/>
          </a:p>
        </p:txBody>
      </p:sp>
      <p:sp>
        <p:nvSpPr>
          <p:cNvPr id="11" name="Shape 9"/>
          <p:cNvSpPr/>
          <p:nvPr/>
        </p:nvSpPr>
        <p:spPr>
          <a:xfrm>
            <a:off x="7086600" y="2560320"/>
            <a:ext cx="347472" cy="347472"/>
          </a:xfrm>
          <a:prstGeom prst="ellipse">
            <a:avLst/>
          </a:prstGeom>
          <a:solidFill>
            <a:srgbClr val="7EE787"/>
          </a:solidFill>
          <a:ln/>
        </p:spPr>
        <p:txBody>
          <a:bodyPr/>
          <a:lstStyle/>
          <a:p>
            <a:endParaRPr lang="en-GB"/>
          </a:p>
        </p:txBody>
      </p:sp>
      <p:sp>
        <p:nvSpPr>
          <p:cNvPr id="12" name="Text 10"/>
          <p:cNvSpPr/>
          <p:nvPr/>
        </p:nvSpPr>
        <p:spPr>
          <a:xfrm>
            <a:off x="7086600" y="2560320"/>
            <a:ext cx="347472" cy="347472"/>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1</a:t>
            </a:r>
            <a:endParaRPr lang="en-US" sz="1400" dirty="0"/>
          </a:p>
        </p:txBody>
      </p:sp>
      <p:sp>
        <p:nvSpPr>
          <p:cNvPr id="13" name="Text 11"/>
          <p:cNvSpPr/>
          <p:nvPr/>
        </p:nvSpPr>
        <p:spPr>
          <a:xfrm>
            <a:off x="7589520" y="2514600"/>
            <a:ext cx="3886200" cy="365760"/>
          </a:xfrm>
          <a:prstGeom prst="rect">
            <a:avLst/>
          </a:prstGeom>
          <a:noFill/>
          <a:ln/>
        </p:spPr>
        <p:txBody>
          <a:bodyPr wrap="square" rtlCol="0" anchor="ctr"/>
          <a:lstStyle/>
          <a:p>
            <a:pPr marL="0" indent="0">
              <a:buNone/>
            </a:pPr>
            <a:r>
              <a:rPr lang="en-US" sz="1350" b="1" dirty="0">
                <a:solidFill>
                  <a:srgbClr val="7EE787"/>
                </a:solidFill>
                <a:latin typeface="Cambria" pitchFamily="34" charset="0"/>
                <a:ea typeface="Cambria" pitchFamily="34" charset="-122"/>
                <a:cs typeface="Cambria" pitchFamily="34" charset="-120"/>
              </a:rPr>
              <a:t>Názvy dle gramatiky</a:t>
            </a:r>
            <a:endParaRPr lang="en-US" sz="1350" dirty="0"/>
          </a:p>
        </p:txBody>
      </p:sp>
      <p:sp>
        <p:nvSpPr>
          <p:cNvPr id="14" name="Text 12"/>
          <p:cNvSpPr/>
          <p:nvPr/>
        </p:nvSpPr>
        <p:spPr>
          <a:xfrm>
            <a:off x="7589520" y="2834640"/>
            <a:ext cx="3931920" cy="548640"/>
          </a:xfrm>
          <a:prstGeom prst="rect">
            <a:avLst/>
          </a:prstGeom>
          <a:noFill/>
          <a:ln/>
        </p:spPr>
        <p:txBody>
          <a:bodyPr wrap="square" rtlCol="0" anchor="ctr"/>
          <a:lstStyle/>
          <a:p>
            <a:pPr marL="0" indent="0">
              <a:lnSpc>
                <a:spcPct val="102000"/>
              </a:lnSpc>
              <a:buNone/>
            </a:pPr>
            <a:r>
              <a:rPr lang="en-US" sz="1150" dirty="0">
                <a:solidFill>
                  <a:srgbClr val="8B98AC"/>
                </a:solidFill>
                <a:latin typeface="Calibri" pitchFamily="34" charset="0"/>
                <a:ea typeface="Calibri" pitchFamily="34" charset="-122"/>
                <a:cs typeface="Calibri" pitchFamily="34" charset="-120"/>
              </a:rPr>
              <a:t>„Kvantová Fyzika", „Aplikovaný Management" — správné koncovky dle rodu</a:t>
            </a:r>
            <a:endParaRPr lang="en-US" sz="1150" dirty="0"/>
          </a:p>
        </p:txBody>
      </p:sp>
      <p:sp>
        <p:nvSpPr>
          <p:cNvPr id="15" name="Shape 13"/>
          <p:cNvSpPr/>
          <p:nvPr/>
        </p:nvSpPr>
        <p:spPr>
          <a:xfrm>
            <a:off x="7086600" y="3456432"/>
            <a:ext cx="347472" cy="347472"/>
          </a:xfrm>
          <a:prstGeom prst="ellipse">
            <a:avLst/>
          </a:prstGeom>
          <a:solidFill>
            <a:srgbClr val="4FC3F7"/>
          </a:solidFill>
          <a:ln/>
        </p:spPr>
        <p:txBody>
          <a:bodyPr/>
          <a:lstStyle/>
          <a:p>
            <a:endParaRPr lang="en-GB"/>
          </a:p>
        </p:txBody>
      </p:sp>
      <p:sp>
        <p:nvSpPr>
          <p:cNvPr id="16" name="Text 14"/>
          <p:cNvSpPr/>
          <p:nvPr/>
        </p:nvSpPr>
        <p:spPr>
          <a:xfrm>
            <a:off x="7086600" y="3456432"/>
            <a:ext cx="347472" cy="347472"/>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2</a:t>
            </a:r>
            <a:endParaRPr lang="en-US" sz="1400" dirty="0"/>
          </a:p>
        </p:txBody>
      </p:sp>
      <p:sp>
        <p:nvSpPr>
          <p:cNvPr id="17" name="Text 15"/>
          <p:cNvSpPr/>
          <p:nvPr/>
        </p:nvSpPr>
        <p:spPr>
          <a:xfrm>
            <a:off x="7589520" y="3410712"/>
            <a:ext cx="3886200" cy="365760"/>
          </a:xfrm>
          <a:prstGeom prst="rect">
            <a:avLst/>
          </a:prstGeom>
          <a:noFill/>
          <a:ln/>
        </p:spPr>
        <p:txBody>
          <a:bodyPr wrap="square" rtlCol="0" anchor="ctr"/>
          <a:lstStyle/>
          <a:p>
            <a:pPr marL="0" indent="0">
              <a:buNone/>
            </a:pPr>
            <a:r>
              <a:rPr lang="en-US" sz="1350" b="1" dirty="0">
                <a:solidFill>
                  <a:srgbClr val="4FC3F7"/>
                </a:solidFill>
                <a:latin typeface="Cambria" pitchFamily="34" charset="0"/>
                <a:ea typeface="Cambria" pitchFamily="34" charset="-122"/>
                <a:cs typeface="Cambria" pitchFamily="34" charset="-120"/>
              </a:rPr>
              <a:t>Náhodné semestry</a:t>
            </a:r>
            <a:endParaRPr lang="en-US" sz="1350" dirty="0"/>
          </a:p>
        </p:txBody>
      </p:sp>
      <p:sp>
        <p:nvSpPr>
          <p:cNvPr id="18" name="Text 16"/>
          <p:cNvSpPr/>
          <p:nvPr/>
        </p:nvSpPr>
        <p:spPr>
          <a:xfrm>
            <a:off x="7589520" y="3730752"/>
            <a:ext cx="3931920" cy="548640"/>
          </a:xfrm>
          <a:prstGeom prst="rect">
            <a:avLst/>
          </a:prstGeom>
          <a:noFill/>
          <a:ln/>
        </p:spPr>
        <p:txBody>
          <a:bodyPr wrap="square" rtlCol="0" anchor="ctr"/>
          <a:lstStyle/>
          <a:p>
            <a:pPr marL="0" indent="0">
              <a:lnSpc>
                <a:spcPct val="102000"/>
              </a:lnSpc>
              <a:buNone/>
            </a:pPr>
            <a:r>
              <a:rPr lang="en-US" sz="1150" dirty="0">
                <a:solidFill>
                  <a:srgbClr val="8B98AC"/>
                </a:solidFill>
                <a:latin typeface="Calibri" pitchFamily="34" charset="0"/>
                <a:ea typeface="Calibri" pitchFamily="34" charset="-122"/>
                <a:cs typeface="Calibri" pitchFamily="34" charset="-120"/>
              </a:rPr>
              <a:t>každému předmětu 1–12 semestrů (SemesterInsertAsyncAction)</a:t>
            </a:r>
            <a:endParaRPr lang="en-US" sz="1150" dirty="0"/>
          </a:p>
        </p:txBody>
      </p:sp>
      <p:sp>
        <p:nvSpPr>
          <p:cNvPr id="19" name="Shape 17"/>
          <p:cNvSpPr/>
          <p:nvPr/>
        </p:nvSpPr>
        <p:spPr>
          <a:xfrm>
            <a:off x="7086600" y="4352544"/>
            <a:ext cx="347472" cy="347472"/>
          </a:xfrm>
          <a:prstGeom prst="ellipse">
            <a:avLst/>
          </a:prstGeom>
          <a:solidFill>
            <a:srgbClr val="F778BA"/>
          </a:solidFill>
          <a:ln/>
        </p:spPr>
        <p:txBody>
          <a:bodyPr/>
          <a:lstStyle/>
          <a:p>
            <a:endParaRPr lang="en-GB"/>
          </a:p>
        </p:txBody>
      </p:sp>
      <p:sp>
        <p:nvSpPr>
          <p:cNvPr id="20" name="Text 18"/>
          <p:cNvSpPr/>
          <p:nvPr/>
        </p:nvSpPr>
        <p:spPr>
          <a:xfrm>
            <a:off x="7086600" y="4352544"/>
            <a:ext cx="347472" cy="347472"/>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3</a:t>
            </a:r>
            <a:endParaRPr lang="en-US" sz="1400" dirty="0"/>
          </a:p>
        </p:txBody>
      </p:sp>
      <p:sp>
        <p:nvSpPr>
          <p:cNvPr id="21" name="Text 19"/>
          <p:cNvSpPr/>
          <p:nvPr/>
        </p:nvSpPr>
        <p:spPr>
          <a:xfrm>
            <a:off x="7589520" y="4306824"/>
            <a:ext cx="3886200" cy="365760"/>
          </a:xfrm>
          <a:prstGeom prst="rect">
            <a:avLst/>
          </a:prstGeom>
          <a:noFill/>
          <a:ln/>
        </p:spPr>
        <p:txBody>
          <a:bodyPr wrap="square" rtlCol="0" anchor="ctr"/>
          <a:lstStyle/>
          <a:p>
            <a:pPr marL="0" indent="0">
              <a:buNone/>
            </a:pPr>
            <a:r>
              <a:rPr lang="en-US" sz="1350" b="1" dirty="0">
                <a:solidFill>
                  <a:srgbClr val="F778BA"/>
                </a:solidFill>
                <a:latin typeface="Cambria" pitchFamily="34" charset="0"/>
                <a:ea typeface="Cambria" pitchFamily="34" charset="-122"/>
                <a:cs typeface="Cambria" pitchFamily="34" charset="-120"/>
              </a:rPr>
              <a:t>Výběr programu</a:t>
            </a:r>
            <a:endParaRPr lang="en-US" sz="1350" dirty="0"/>
          </a:p>
        </p:txBody>
      </p:sp>
      <p:sp>
        <p:nvSpPr>
          <p:cNvPr id="22" name="Text 20"/>
          <p:cNvSpPr/>
          <p:nvPr/>
        </p:nvSpPr>
        <p:spPr>
          <a:xfrm>
            <a:off x="7589520" y="4626864"/>
            <a:ext cx="3931920" cy="548640"/>
          </a:xfrm>
          <a:prstGeom prst="rect">
            <a:avLst/>
          </a:prstGeom>
          <a:noFill/>
          <a:ln/>
        </p:spPr>
        <p:txBody>
          <a:bodyPr wrap="square" rtlCol="0" anchor="ctr"/>
          <a:lstStyle/>
          <a:p>
            <a:pPr marL="0" indent="0">
              <a:lnSpc>
                <a:spcPct val="102000"/>
              </a:lnSpc>
              <a:buNone/>
            </a:pPr>
            <a:r>
              <a:rPr lang="en-US" sz="1150" dirty="0">
                <a:solidFill>
                  <a:srgbClr val="8B98AC"/>
                </a:solidFill>
                <a:latin typeface="Calibri" pitchFamily="34" charset="0"/>
                <a:ea typeface="Calibri" pitchFamily="34" charset="-122"/>
                <a:cs typeface="Calibri" pitchFamily="34" charset="-120"/>
              </a:rPr>
              <a:t>z API, nebo náhodně z načteného seznamu</a:t>
            </a:r>
            <a:endParaRPr lang="en-US" sz="1150" dirty="0"/>
          </a:p>
        </p:txBody>
      </p:sp>
      <p:sp>
        <p:nvSpPr>
          <p:cNvPr id="23" name="Shape 21"/>
          <p:cNvSpPr/>
          <p:nvPr/>
        </p:nvSpPr>
        <p:spPr>
          <a:xfrm>
            <a:off x="7086600" y="5248656"/>
            <a:ext cx="347472" cy="347472"/>
          </a:xfrm>
          <a:prstGeom prst="ellipse">
            <a:avLst/>
          </a:prstGeom>
          <a:solidFill>
            <a:srgbClr val="F0A868"/>
          </a:solidFill>
          <a:ln/>
        </p:spPr>
        <p:txBody>
          <a:bodyPr/>
          <a:lstStyle/>
          <a:p>
            <a:endParaRPr lang="en-GB"/>
          </a:p>
        </p:txBody>
      </p:sp>
      <p:sp>
        <p:nvSpPr>
          <p:cNvPr id="24" name="Text 22"/>
          <p:cNvSpPr/>
          <p:nvPr/>
        </p:nvSpPr>
        <p:spPr>
          <a:xfrm>
            <a:off x="7086600" y="5248656"/>
            <a:ext cx="347472" cy="347472"/>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4</a:t>
            </a:r>
            <a:endParaRPr lang="en-US" sz="1400" dirty="0"/>
          </a:p>
        </p:txBody>
      </p:sp>
      <p:sp>
        <p:nvSpPr>
          <p:cNvPr id="25" name="Text 23"/>
          <p:cNvSpPr/>
          <p:nvPr/>
        </p:nvSpPr>
        <p:spPr>
          <a:xfrm>
            <a:off x="7589520" y="5202936"/>
            <a:ext cx="3886200" cy="365760"/>
          </a:xfrm>
          <a:prstGeom prst="rect">
            <a:avLst/>
          </a:prstGeom>
          <a:noFill/>
          <a:ln/>
        </p:spPr>
        <p:txBody>
          <a:bodyPr wrap="square" rtlCol="0" anchor="ctr"/>
          <a:lstStyle/>
          <a:p>
            <a:pPr marL="0" indent="0">
              <a:buNone/>
            </a:pPr>
            <a:r>
              <a:rPr lang="en-US" sz="1350" b="1" dirty="0">
                <a:solidFill>
                  <a:srgbClr val="F0A868"/>
                </a:solidFill>
                <a:latin typeface="Cambria" pitchFamily="34" charset="0"/>
                <a:ea typeface="Cambria" pitchFamily="34" charset="-122"/>
                <a:cs typeface="Cambria" pitchFamily="34" charset="-120"/>
              </a:rPr>
              <a:t>Bez duplicit</a:t>
            </a:r>
            <a:endParaRPr lang="en-US" sz="1350" dirty="0"/>
          </a:p>
        </p:txBody>
      </p:sp>
      <p:sp>
        <p:nvSpPr>
          <p:cNvPr id="26" name="Text 24"/>
          <p:cNvSpPr/>
          <p:nvPr/>
        </p:nvSpPr>
        <p:spPr>
          <a:xfrm>
            <a:off x="7589520" y="5522976"/>
            <a:ext cx="3931920" cy="548640"/>
          </a:xfrm>
          <a:prstGeom prst="rect">
            <a:avLst/>
          </a:prstGeom>
          <a:noFill/>
          <a:ln/>
        </p:spPr>
        <p:txBody>
          <a:bodyPr wrap="square" rtlCol="0" anchor="ctr"/>
          <a:lstStyle/>
          <a:p>
            <a:pPr marL="0" indent="0">
              <a:lnSpc>
                <a:spcPct val="102000"/>
              </a:lnSpc>
              <a:buNone/>
            </a:pPr>
            <a:r>
              <a:rPr lang="en-US" sz="1150" dirty="0">
                <a:solidFill>
                  <a:srgbClr val="8B98AC"/>
                </a:solidFill>
                <a:latin typeface="Calibri" pitchFamily="34" charset="0"/>
                <a:ea typeface="Calibri" pitchFamily="34" charset="-122"/>
                <a:cs typeface="Calibri" pitchFamily="34" charset="-120"/>
              </a:rPr>
              <a:t>hlídá unikátní kombinace přídavné + podstatné jméno</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20"/>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74320"/>
          </a:xfrm>
          <a:prstGeom prst="rect">
            <a:avLst/>
          </a:prstGeom>
          <a:noFill/>
          <a:ln/>
        </p:spPr>
        <p:txBody>
          <a:bodyPr wrap="square" rtlCol="0" anchor="ctr"/>
          <a:lstStyle/>
          <a:p>
            <a:pPr marL="0" indent="0">
              <a:buNone/>
            </a:pPr>
            <a:r>
              <a:rPr lang="en-US" sz="1200" b="1" kern="0" spc="200" dirty="0">
                <a:solidFill>
                  <a:srgbClr val="7EE787"/>
                </a:solidFill>
                <a:latin typeface="Calibri" pitchFamily="34" charset="0"/>
                <a:ea typeface="Calibri" pitchFamily="34" charset="-122"/>
                <a:cs typeface="Calibri" pitchFamily="34" charset="-120"/>
              </a:rPr>
              <a:t>GENEROVÁNÍ DAT · TOK</a:t>
            </a:r>
            <a:endParaRPr lang="en-US" sz="1200" dirty="0"/>
          </a:p>
        </p:txBody>
      </p:sp>
      <p:sp>
        <p:nvSpPr>
          <p:cNvPr id="3" name="Text 1"/>
          <p:cNvSpPr/>
          <p:nvPr/>
        </p:nvSpPr>
        <p:spPr>
          <a:xfrm>
            <a:off x="548640" y="640080"/>
            <a:ext cx="11064240" cy="685800"/>
          </a:xfrm>
          <a:prstGeom prst="rect">
            <a:avLst/>
          </a:prstGeom>
          <a:noFill/>
          <a:ln/>
        </p:spPr>
        <p:txBody>
          <a:bodyPr wrap="square" rtlCol="0" anchor="ctr"/>
          <a:lstStyle/>
          <a:p>
            <a:pPr marL="0" indent="0">
              <a:buNone/>
            </a:pPr>
            <a:r>
              <a:rPr lang="en-US" sz="3000" b="1" dirty="0">
                <a:solidFill>
                  <a:srgbClr val="E6EDF3"/>
                </a:solidFill>
                <a:latin typeface="Cambria" pitchFamily="34" charset="0"/>
                <a:ea typeface="Cambria" pitchFamily="34" charset="-122"/>
                <a:cs typeface="Cambria" pitchFamily="34" charset="-120"/>
              </a:rPr>
              <a:t>Jak generování probíhá</a:t>
            </a:r>
            <a:endParaRPr lang="en-US" sz="3000" dirty="0"/>
          </a:p>
        </p:txBody>
      </p:sp>
      <p:sp>
        <p:nvSpPr>
          <p:cNvPr id="4" name="Shape 2"/>
          <p:cNvSpPr/>
          <p:nvPr/>
        </p:nvSpPr>
        <p:spPr>
          <a:xfrm>
            <a:off x="548640" y="2011680"/>
            <a:ext cx="2514600" cy="2468880"/>
          </a:xfrm>
          <a:prstGeom prst="roundRect">
            <a:avLst>
              <a:gd name="adj" fmla="val 3704"/>
            </a:avLst>
          </a:prstGeom>
          <a:solidFill>
            <a:srgbClr val="1B2333"/>
          </a:solidFill>
          <a:ln w="16510">
            <a:solidFill>
              <a:srgbClr val="4FC3F7"/>
            </a:solidFill>
            <a:prstDash val="solid"/>
          </a:ln>
        </p:spPr>
        <p:txBody>
          <a:bodyPr/>
          <a:lstStyle/>
          <a:p>
            <a:endParaRPr lang="en-GB"/>
          </a:p>
        </p:txBody>
      </p:sp>
      <p:sp>
        <p:nvSpPr>
          <p:cNvPr id="5" name="Shape 3"/>
          <p:cNvSpPr/>
          <p:nvPr/>
        </p:nvSpPr>
        <p:spPr>
          <a:xfrm>
            <a:off x="777240" y="2194560"/>
            <a:ext cx="457200" cy="457200"/>
          </a:xfrm>
          <a:prstGeom prst="ellipse">
            <a:avLst/>
          </a:prstGeom>
          <a:solidFill>
            <a:srgbClr val="4FC3F7"/>
          </a:solidFill>
          <a:ln/>
        </p:spPr>
        <p:txBody>
          <a:bodyPr/>
          <a:lstStyle/>
          <a:p>
            <a:endParaRPr lang="en-GB"/>
          </a:p>
        </p:txBody>
      </p:sp>
      <p:sp>
        <p:nvSpPr>
          <p:cNvPr id="6" name="Text 4"/>
          <p:cNvSpPr/>
          <p:nvPr/>
        </p:nvSpPr>
        <p:spPr>
          <a:xfrm>
            <a:off x="777240" y="2194560"/>
            <a:ext cx="457200" cy="45720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777240" y="2743200"/>
            <a:ext cx="2103120" cy="685800"/>
          </a:xfrm>
          <a:prstGeom prst="rect">
            <a:avLst/>
          </a:prstGeom>
          <a:noFill/>
          <a:ln/>
        </p:spPr>
        <p:txBody>
          <a:bodyPr wrap="square" rtlCol="0" anchor="t"/>
          <a:lstStyle/>
          <a:p>
            <a:pPr marL="0" indent="0">
              <a:buNone/>
            </a:pPr>
            <a:r>
              <a:rPr lang="en-US" sz="1200" b="1" dirty="0">
                <a:solidFill>
                  <a:srgbClr val="4FC3F7"/>
                </a:solidFill>
                <a:latin typeface="Courier New" pitchFamily="34" charset="0"/>
                <a:ea typeface="Courier New" pitchFamily="34" charset="-122"/>
                <a:cs typeface="Courier New" pitchFamily="34" charset="-120"/>
              </a:rPr>
              <a:t>Vstup</a:t>
            </a:r>
            <a:endParaRPr lang="en-US" sz="1200" dirty="0"/>
          </a:p>
        </p:txBody>
      </p:sp>
      <p:sp>
        <p:nvSpPr>
          <p:cNvPr id="8" name="Text 6"/>
          <p:cNvSpPr/>
          <p:nvPr/>
        </p:nvSpPr>
        <p:spPr>
          <a:xfrm>
            <a:off x="777240" y="3429000"/>
            <a:ext cx="2148840" cy="914400"/>
          </a:xfrm>
          <a:prstGeom prst="rect">
            <a:avLst/>
          </a:prstGeom>
          <a:noFill/>
          <a:ln/>
        </p:spPr>
        <p:txBody>
          <a:bodyPr wrap="square" rtlCol="0" anchor="t"/>
          <a:lstStyle/>
          <a:p>
            <a:pPr marL="0" indent="0">
              <a:lnSpc>
                <a:spcPct val="110000"/>
              </a:lnSpc>
              <a:buNone/>
            </a:pPr>
            <a:r>
              <a:rPr lang="en-US" sz="1200" dirty="0">
                <a:solidFill>
                  <a:srgbClr val="8B98AC"/>
                </a:solidFill>
                <a:latin typeface="Calibri" pitchFamily="34" charset="0"/>
                <a:ea typeface="Calibri" pitchFamily="34" charset="-122"/>
                <a:cs typeface="Calibri" pitchFamily="34" charset="-120"/>
              </a:rPr>
              <a:t>slovníky přídavných</a:t>
            </a:r>
            <a:endParaRPr lang="en-US" sz="1200" dirty="0"/>
          </a:p>
          <a:p>
            <a:pPr marL="0" indent="0">
              <a:lnSpc>
                <a:spcPct val="110000"/>
              </a:lnSpc>
              <a:buNone/>
            </a:pPr>
            <a:r>
              <a:rPr lang="en-US" sz="1200" dirty="0">
                <a:solidFill>
                  <a:srgbClr val="8B98AC"/>
                </a:solidFill>
                <a:latin typeface="Calibri" pitchFamily="34" charset="0"/>
                <a:ea typeface="Calibri" pitchFamily="34" charset="-122"/>
                <a:cs typeface="Calibri" pitchFamily="34" charset="-120"/>
              </a:rPr>
              <a:t>a podstatných jmen + počet</a:t>
            </a:r>
            <a:endParaRPr lang="en-US" sz="1200" dirty="0"/>
          </a:p>
        </p:txBody>
      </p:sp>
      <p:sp>
        <p:nvSpPr>
          <p:cNvPr id="9" name="Text 7"/>
          <p:cNvSpPr/>
          <p:nvPr/>
        </p:nvSpPr>
        <p:spPr>
          <a:xfrm>
            <a:off x="2944368" y="2926080"/>
            <a:ext cx="457200" cy="548640"/>
          </a:xfrm>
          <a:prstGeom prst="rect">
            <a:avLst/>
          </a:prstGeom>
          <a:noFill/>
          <a:ln/>
        </p:spPr>
        <p:txBody>
          <a:bodyPr wrap="square" rtlCol="0" anchor="ctr"/>
          <a:lstStyle/>
          <a:p>
            <a:pPr marL="0" indent="0" algn="ctr">
              <a:buNone/>
            </a:pPr>
            <a:r>
              <a:rPr lang="en-US" sz="2200" b="1" dirty="0">
                <a:solidFill>
                  <a:srgbClr val="8B98AC"/>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364992" y="2011680"/>
            <a:ext cx="2514600" cy="2468880"/>
          </a:xfrm>
          <a:prstGeom prst="roundRect">
            <a:avLst>
              <a:gd name="adj" fmla="val 3704"/>
            </a:avLst>
          </a:prstGeom>
          <a:solidFill>
            <a:srgbClr val="1B2333"/>
          </a:solidFill>
          <a:ln w="16510">
            <a:solidFill>
              <a:srgbClr val="F778BA"/>
            </a:solidFill>
            <a:prstDash val="solid"/>
          </a:ln>
        </p:spPr>
        <p:txBody>
          <a:bodyPr/>
          <a:lstStyle/>
          <a:p>
            <a:endParaRPr lang="en-GB"/>
          </a:p>
        </p:txBody>
      </p:sp>
      <p:sp>
        <p:nvSpPr>
          <p:cNvPr id="11" name="Shape 9"/>
          <p:cNvSpPr/>
          <p:nvPr/>
        </p:nvSpPr>
        <p:spPr>
          <a:xfrm>
            <a:off x="3593592" y="2194560"/>
            <a:ext cx="457200" cy="457200"/>
          </a:xfrm>
          <a:prstGeom prst="ellipse">
            <a:avLst/>
          </a:prstGeom>
          <a:solidFill>
            <a:srgbClr val="F778BA"/>
          </a:solidFill>
          <a:ln/>
        </p:spPr>
        <p:txBody>
          <a:bodyPr/>
          <a:lstStyle/>
          <a:p>
            <a:endParaRPr lang="en-GB"/>
          </a:p>
        </p:txBody>
      </p:sp>
      <p:sp>
        <p:nvSpPr>
          <p:cNvPr id="12" name="Text 10"/>
          <p:cNvSpPr/>
          <p:nvPr/>
        </p:nvSpPr>
        <p:spPr>
          <a:xfrm>
            <a:off x="3593592" y="2194560"/>
            <a:ext cx="457200" cy="45720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3593592" y="2743200"/>
            <a:ext cx="2103120" cy="685800"/>
          </a:xfrm>
          <a:prstGeom prst="rect">
            <a:avLst/>
          </a:prstGeom>
          <a:noFill/>
          <a:ln/>
        </p:spPr>
        <p:txBody>
          <a:bodyPr wrap="square" rtlCol="0" anchor="t"/>
          <a:lstStyle/>
          <a:p>
            <a:pPr marL="0" indent="0">
              <a:buNone/>
            </a:pPr>
            <a:r>
              <a:rPr lang="en-US" sz="1200" b="1" dirty="0">
                <a:solidFill>
                  <a:srgbClr val="F778BA"/>
                </a:solidFill>
                <a:latin typeface="Courier New" pitchFamily="34" charset="0"/>
                <a:ea typeface="Courier New" pitchFamily="34" charset="-122"/>
                <a:cs typeface="Courier New" pitchFamily="34" charset="-120"/>
              </a:rPr>
              <a:t>generateUnique</a:t>
            </a:r>
            <a:endParaRPr lang="en-US" sz="1200" dirty="0"/>
          </a:p>
          <a:p>
            <a:pPr marL="0" indent="0">
              <a:buNone/>
            </a:pPr>
            <a:r>
              <a:rPr lang="en-US" sz="1200" b="1" dirty="0">
                <a:solidFill>
                  <a:srgbClr val="F778BA"/>
                </a:solidFill>
                <a:latin typeface="Courier New" pitchFamily="34" charset="0"/>
                <a:ea typeface="Courier New" pitchFamily="34" charset="-122"/>
                <a:cs typeface="Courier New" pitchFamily="34" charset="-120"/>
              </a:rPr>
              <a:t>Subjects</a:t>
            </a:r>
            <a:endParaRPr lang="en-US" sz="1200" dirty="0"/>
          </a:p>
        </p:txBody>
      </p:sp>
      <p:sp>
        <p:nvSpPr>
          <p:cNvPr id="14" name="Text 12"/>
          <p:cNvSpPr/>
          <p:nvPr/>
        </p:nvSpPr>
        <p:spPr>
          <a:xfrm>
            <a:off x="3593592" y="3429000"/>
            <a:ext cx="2148840" cy="914400"/>
          </a:xfrm>
          <a:prstGeom prst="rect">
            <a:avLst/>
          </a:prstGeom>
          <a:noFill/>
          <a:ln/>
        </p:spPr>
        <p:txBody>
          <a:bodyPr wrap="square" rtlCol="0" anchor="t"/>
          <a:lstStyle/>
          <a:p>
            <a:pPr marL="0" indent="0">
              <a:lnSpc>
                <a:spcPct val="110000"/>
              </a:lnSpc>
              <a:buNone/>
            </a:pPr>
            <a:r>
              <a:rPr lang="en-US" sz="1200" dirty="0">
                <a:solidFill>
                  <a:srgbClr val="8B98AC"/>
                </a:solidFill>
                <a:latin typeface="Calibri" pitchFamily="34" charset="0"/>
                <a:ea typeface="Calibri" pitchFamily="34" charset="-122"/>
                <a:cs typeface="Calibri" pitchFamily="34" charset="-120"/>
              </a:rPr>
              <a:t>unikátní kombinace,</a:t>
            </a:r>
            <a:endParaRPr lang="en-US" sz="1200" dirty="0"/>
          </a:p>
          <a:p>
            <a:pPr marL="0" indent="0">
              <a:lnSpc>
                <a:spcPct val="110000"/>
              </a:lnSpc>
              <a:buNone/>
            </a:pPr>
            <a:r>
              <a:rPr lang="en-US" sz="1200" dirty="0">
                <a:solidFill>
                  <a:srgbClr val="8B98AC"/>
                </a:solidFill>
                <a:latin typeface="Calibri" pitchFamily="34" charset="0"/>
                <a:ea typeface="Calibri" pitchFamily="34" charset="-122"/>
                <a:cs typeface="Calibri" pitchFamily="34" charset="-120"/>
              </a:rPr>
              <a:t>správné skloňování</a:t>
            </a:r>
            <a:endParaRPr lang="en-US" sz="1200" dirty="0"/>
          </a:p>
        </p:txBody>
      </p:sp>
      <p:sp>
        <p:nvSpPr>
          <p:cNvPr id="15" name="Text 13"/>
          <p:cNvSpPr/>
          <p:nvPr/>
        </p:nvSpPr>
        <p:spPr>
          <a:xfrm>
            <a:off x="5760720" y="2926080"/>
            <a:ext cx="457200" cy="548640"/>
          </a:xfrm>
          <a:prstGeom prst="rect">
            <a:avLst/>
          </a:prstGeom>
          <a:noFill/>
          <a:ln/>
        </p:spPr>
        <p:txBody>
          <a:bodyPr wrap="square" rtlCol="0" anchor="ctr"/>
          <a:lstStyle/>
          <a:p>
            <a:pPr marL="0" indent="0" algn="ctr">
              <a:buNone/>
            </a:pPr>
            <a:r>
              <a:rPr lang="en-US" sz="2200" b="1" dirty="0">
                <a:solidFill>
                  <a:srgbClr val="8B98AC"/>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181344" y="2011680"/>
            <a:ext cx="2514600" cy="2468880"/>
          </a:xfrm>
          <a:prstGeom prst="roundRect">
            <a:avLst>
              <a:gd name="adj" fmla="val 3704"/>
            </a:avLst>
          </a:prstGeom>
          <a:solidFill>
            <a:srgbClr val="1B2333"/>
          </a:solidFill>
          <a:ln w="16510">
            <a:solidFill>
              <a:srgbClr val="F0A868"/>
            </a:solidFill>
            <a:prstDash val="solid"/>
          </a:ln>
        </p:spPr>
        <p:txBody>
          <a:bodyPr/>
          <a:lstStyle/>
          <a:p>
            <a:endParaRPr lang="en-GB"/>
          </a:p>
        </p:txBody>
      </p:sp>
      <p:sp>
        <p:nvSpPr>
          <p:cNvPr id="17" name="Shape 15"/>
          <p:cNvSpPr/>
          <p:nvPr/>
        </p:nvSpPr>
        <p:spPr>
          <a:xfrm>
            <a:off x="6409944" y="2194560"/>
            <a:ext cx="457200" cy="457200"/>
          </a:xfrm>
          <a:prstGeom prst="ellipse">
            <a:avLst/>
          </a:prstGeom>
          <a:solidFill>
            <a:srgbClr val="F0A868"/>
          </a:solidFill>
          <a:ln/>
        </p:spPr>
        <p:txBody>
          <a:bodyPr/>
          <a:lstStyle/>
          <a:p>
            <a:endParaRPr lang="en-GB"/>
          </a:p>
        </p:txBody>
      </p:sp>
      <p:sp>
        <p:nvSpPr>
          <p:cNvPr id="18" name="Text 16"/>
          <p:cNvSpPr/>
          <p:nvPr/>
        </p:nvSpPr>
        <p:spPr>
          <a:xfrm>
            <a:off x="6409944" y="2194560"/>
            <a:ext cx="457200" cy="45720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6409944" y="2743200"/>
            <a:ext cx="2103120" cy="685800"/>
          </a:xfrm>
          <a:prstGeom prst="rect">
            <a:avLst/>
          </a:prstGeom>
          <a:noFill/>
          <a:ln/>
        </p:spPr>
        <p:txBody>
          <a:bodyPr wrap="square" rtlCol="0" anchor="t"/>
          <a:lstStyle/>
          <a:p>
            <a:pPr marL="0" indent="0">
              <a:buNone/>
            </a:pPr>
            <a:r>
              <a:rPr lang="en-US" sz="1200" b="1" dirty="0">
                <a:solidFill>
                  <a:srgbClr val="F0A868"/>
                </a:solidFill>
                <a:latin typeface="Courier New" pitchFamily="34" charset="0"/>
                <a:ea typeface="Courier New" pitchFamily="34" charset="-122"/>
                <a:cs typeface="Courier New" pitchFamily="34" charset="-120"/>
              </a:rPr>
              <a:t>ConfirmForm</a:t>
            </a:r>
            <a:endParaRPr lang="en-US" sz="1200" dirty="0"/>
          </a:p>
        </p:txBody>
      </p:sp>
      <p:sp>
        <p:nvSpPr>
          <p:cNvPr id="20" name="Text 18"/>
          <p:cNvSpPr/>
          <p:nvPr/>
        </p:nvSpPr>
        <p:spPr>
          <a:xfrm>
            <a:off x="6409944" y="3429000"/>
            <a:ext cx="2148840" cy="914400"/>
          </a:xfrm>
          <a:prstGeom prst="rect">
            <a:avLst/>
          </a:prstGeom>
          <a:noFill/>
          <a:ln/>
        </p:spPr>
        <p:txBody>
          <a:bodyPr wrap="square" rtlCol="0" anchor="t"/>
          <a:lstStyle/>
          <a:p>
            <a:pPr marL="0" indent="0">
              <a:lnSpc>
                <a:spcPct val="110000"/>
              </a:lnSpc>
              <a:buNone/>
            </a:pPr>
            <a:r>
              <a:rPr lang="en-US" sz="1200" dirty="0">
                <a:solidFill>
                  <a:srgbClr val="8B98AC"/>
                </a:solidFill>
                <a:latin typeface="Calibri" pitchFamily="34" charset="0"/>
                <a:ea typeface="Calibri" pitchFamily="34" charset="-122"/>
                <a:cs typeface="Calibri" pitchFamily="34" charset="-120"/>
              </a:rPr>
              <a:t>uživatel vybere,</a:t>
            </a:r>
            <a:endParaRPr lang="en-US" sz="1200" dirty="0"/>
          </a:p>
          <a:p>
            <a:pPr marL="0" indent="0">
              <a:lnSpc>
                <a:spcPct val="110000"/>
              </a:lnSpc>
              <a:buNone/>
            </a:pPr>
            <a:r>
              <a:rPr lang="en-US" sz="1200" dirty="0">
                <a:solidFill>
                  <a:srgbClr val="8B98AC"/>
                </a:solidFill>
                <a:latin typeface="Calibri" pitchFamily="34" charset="0"/>
                <a:ea typeface="Calibri" pitchFamily="34" charset="-122"/>
                <a:cs typeface="Calibri" pitchFamily="34" charset="-120"/>
              </a:rPr>
              <a:t>které předměty vytvořit</a:t>
            </a:r>
            <a:endParaRPr lang="en-US" sz="1200" dirty="0"/>
          </a:p>
        </p:txBody>
      </p:sp>
      <p:sp>
        <p:nvSpPr>
          <p:cNvPr id="21" name="Text 19"/>
          <p:cNvSpPr/>
          <p:nvPr/>
        </p:nvSpPr>
        <p:spPr>
          <a:xfrm>
            <a:off x="8577072" y="2926080"/>
            <a:ext cx="457200" cy="548640"/>
          </a:xfrm>
          <a:prstGeom prst="rect">
            <a:avLst/>
          </a:prstGeom>
          <a:noFill/>
          <a:ln/>
        </p:spPr>
        <p:txBody>
          <a:bodyPr wrap="square" rtlCol="0" anchor="ctr"/>
          <a:lstStyle/>
          <a:p>
            <a:pPr marL="0" indent="0" algn="ctr">
              <a:buNone/>
            </a:pPr>
            <a:r>
              <a:rPr lang="en-US" sz="2200" b="1" dirty="0">
                <a:solidFill>
                  <a:srgbClr val="8B98AC"/>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8997696" y="2011680"/>
            <a:ext cx="2514600" cy="2468880"/>
          </a:xfrm>
          <a:prstGeom prst="roundRect">
            <a:avLst>
              <a:gd name="adj" fmla="val 3704"/>
            </a:avLst>
          </a:prstGeom>
          <a:solidFill>
            <a:srgbClr val="1B2333"/>
          </a:solidFill>
          <a:ln w="16510">
            <a:solidFill>
              <a:srgbClr val="7EE787"/>
            </a:solidFill>
            <a:prstDash val="solid"/>
          </a:ln>
        </p:spPr>
        <p:txBody>
          <a:bodyPr/>
          <a:lstStyle/>
          <a:p>
            <a:endParaRPr lang="en-GB"/>
          </a:p>
        </p:txBody>
      </p:sp>
      <p:sp>
        <p:nvSpPr>
          <p:cNvPr id="23" name="Shape 21"/>
          <p:cNvSpPr/>
          <p:nvPr/>
        </p:nvSpPr>
        <p:spPr>
          <a:xfrm>
            <a:off x="9226296" y="2194560"/>
            <a:ext cx="457200" cy="457200"/>
          </a:xfrm>
          <a:prstGeom prst="ellipse">
            <a:avLst/>
          </a:prstGeom>
          <a:solidFill>
            <a:srgbClr val="7EE787"/>
          </a:solidFill>
          <a:ln/>
        </p:spPr>
        <p:txBody>
          <a:bodyPr/>
          <a:lstStyle/>
          <a:p>
            <a:endParaRPr lang="en-GB"/>
          </a:p>
        </p:txBody>
      </p:sp>
      <p:sp>
        <p:nvSpPr>
          <p:cNvPr id="24" name="Text 22"/>
          <p:cNvSpPr/>
          <p:nvPr/>
        </p:nvSpPr>
        <p:spPr>
          <a:xfrm>
            <a:off x="9226296" y="2194560"/>
            <a:ext cx="457200" cy="457200"/>
          </a:xfrm>
          <a:prstGeom prst="rect">
            <a:avLst/>
          </a:prstGeom>
          <a:noFill/>
          <a:ln/>
        </p:spPr>
        <p:txBody>
          <a:bodyPr wrap="square" rtlCol="0" anchor="ctr"/>
          <a:lstStyle/>
          <a:p>
            <a:pPr marL="0" indent="0" algn="ctr">
              <a:buNone/>
            </a:pPr>
            <a:r>
              <a:rPr lang="en-US" sz="1400" b="1" dirty="0">
                <a:solidFill>
                  <a:srgbClr val="0F1420"/>
                </a:solidFill>
                <a:latin typeface="Cambria" pitchFamily="34" charset="0"/>
                <a:ea typeface="Cambria" pitchFamily="34" charset="-122"/>
                <a:cs typeface="Cambria" pitchFamily="34" charset="-120"/>
              </a:rPr>
              <a:t>4</a:t>
            </a:r>
            <a:endParaRPr lang="en-US" sz="1400" dirty="0"/>
          </a:p>
        </p:txBody>
      </p:sp>
      <p:sp>
        <p:nvSpPr>
          <p:cNvPr id="25" name="Text 23"/>
          <p:cNvSpPr/>
          <p:nvPr/>
        </p:nvSpPr>
        <p:spPr>
          <a:xfrm>
            <a:off x="9226296" y="2743200"/>
            <a:ext cx="2103120" cy="685800"/>
          </a:xfrm>
          <a:prstGeom prst="rect">
            <a:avLst/>
          </a:prstGeom>
          <a:noFill/>
          <a:ln/>
        </p:spPr>
        <p:txBody>
          <a:bodyPr wrap="square" rtlCol="0" anchor="t"/>
          <a:lstStyle/>
          <a:p>
            <a:pPr marL="0" indent="0">
              <a:buNone/>
            </a:pPr>
            <a:r>
              <a:rPr lang="en-US" sz="1200" b="1" dirty="0">
                <a:solidFill>
                  <a:srgbClr val="7EE787"/>
                </a:solidFill>
                <a:latin typeface="Courier New" pitchFamily="34" charset="0"/>
                <a:ea typeface="Courier New" pitchFamily="34" charset="-122"/>
                <a:cs typeface="Courier New" pitchFamily="34" charset="-120"/>
              </a:rPr>
              <a:t>Insert + semestry</a:t>
            </a:r>
            <a:endParaRPr lang="en-US" sz="1200" dirty="0"/>
          </a:p>
        </p:txBody>
      </p:sp>
      <p:sp>
        <p:nvSpPr>
          <p:cNvPr id="26" name="Text 24"/>
          <p:cNvSpPr/>
          <p:nvPr/>
        </p:nvSpPr>
        <p:spPr>
          <a:xfrm>
            <a:off x="9226296" y="3429000"/>
            <a:ext cx="2148840" cy="914400"/>
          </a:xfrm>
          <a:prstGeom prst="rect">
            <a:avLst/>
          </a:prstGeom>
          <a:noFill/>
          <a:ln/>
        </p:spPr>
        <p:txBody>
          <a:bodyPr wrap="square" rtlCol="0" anchor="t"/>
          <a:lstStyle/>
          <a:p>
            <a:pPr marL="0" indent="0">
              <a:lnSpc>
                <a:spcPct val="110000"/>
              </a:lnSpc>
              <a:buNone/>
            </a:pPr>
            <a:r>
              <a:rPr lang="en-US" sz="1200" dirty="0">
                <a:solidFill>
                  <a:srgbClr val="8B98AC"/>
                </a:solidFill>
                <a:latin typeface="Calibri" pitchFamily="34" charset="0"/>
                <a:ea typeface="Calibri" pitchFamily="34" charset="-122"/>
                <a:cs typeface="Calibri" pitchFamily="34" charset="-120"/>
              </a:rPr>
              <a:t>InsertAsyncAction</a:t>
            </a:r>
            <a:endParaRPr lang="en-US" sz="1200" dirty="0"/>
          </a:p>
          <a:p>
            <a:pPr marL="0" indent="0">
              <a:lnSpc>
                <a:spcPct val="110000"/>
              </a:lnSpc>
              <a:buNone/>
            </a:pPr>
            <a:r>
              <a:rPr lang="en-US" sz="1200" dirty="0">
                <a:solidFill>
                  <a:srgbClr val="8B98AC"/>
                </a:solidFill>
                <a:latin typeface="Calibri" pitchFamily="34" charset="0"/>
                <a:ea typeface="Calibri" pitchFamily="34" charset="-122"/>
                <a:cs typeface="Calibri" pitchFamily="34" charset="-120"/>
              </a:rPr>
              <a:t>+ 1–12 semestrů každému</a:t>
            </a:r>
            <a:endParaRPr lang="en-US" sz="1200" dirty="0"/>
          </a:p>
        </p:txBody>
      </p:sp>
      <p:sp>
        <p:nvSpPr>
          <p:cNvPr id="27" name="Shape 25"/>
          <p:cNvSpPr/>
          <p:nvPr/>
        </p:nvSpPr>
        <p:spPr>
          <a:xfrm>
            <a:off x="548640" y="4709160"/>
            <a:ext cx="11064240" cy="1371600"/>
          </a:xfrm>
          <a:prstGeom prst="roundRect">
            <a:avLst>
              <a:gd name="adj" fmla="val 4000"/>
            </a:avLst>
          </a:prstGeom>
          <a:solidFill>
            <a:srgbClr val="10161F"/>
          </a:solidFill>
          <a:ln w="12700">
            <a:solidFill>
              <a:srgbClr val="2C3A52"/>
            </a:solidFill>
            <a:prstDash val="solid"/>
          </a:ln>
        </p:spPr>
        <p:txBody>
          <a:bodyPr/>
          <a:lstStyle/>
          <a:p>
            <a:endParaRPr lang="en-GB"/>
          </a:p>
        </p:txBody>
      </p:sp>
      <p:sp>
        <p:nvSpPr>
          <p:cNvPr id="28" name="Text 26"/>
          <p:cNvSpPr/>
          <p:nvPr/>
        </p:nvSpPr>
        <p:spPr>
          <a:xfrm>
            <a:off x="658368" y="4782312"/>
            <a:ext cx="10844784" cy="1225296"/>
          </a:xfrm>
          <a:prstGeom prst="rect">
            <a:avLst/>
          </a:prstGeom>
          <a:noFill/>
          <a:ln/>
        </p:spPr>
        <p:txBody>
          <a:bodyPr wrap="square" lIns="0" tIns="0" rIns="0" bIns="0" rtlCol="0" anchor="t"/>
          <a:lstStyle/>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const count = randomInt(11) + 1              // 1–12 semestrů</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for (let i = 0; i &lt; count; i++)</a:t>
            </a:r>
            <a:endParaRPr lang="en-US" sz="1150" dirty="0"/>
          </a:p>
          <a:p>
            <a:pPr marL="0" indent="0" algn="l">
              <a:lnSpc>
                <a:spcPct val="105000"/>
              </a:lnSpc>
              <a:buNone/>
            </a:pPr>
            <a:r>
              <a:rPr lang="en-US" sz="1150" dirty="0">
                <a:solidFill>
                  <a:srgbClr val="E6EDF3"/>
                </a:solidFill>
                <a:latin typeface="Courier New" pitchFamily="34" charset="0"/>
                <a:ea typeface="Courier New" pitchFamily="34" charset="-122"/>
                <a:cs typeface="Courier New" pitchFamily="34" charset="-120"/>
              </a:rPr>
              <a:t>  await dispatch(SemesterInsertAsyncAction({ id: generateUUID(), subjectId: id, order: i+1 }))</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p:bg>
      <p:bgPr>
        <a:solidFill>
          <a:srgbClr val="0F1420"/>
        </a:solidFill>
        <a:effectLst/>
      </p:bgPr>
    </p:bg>
    <p:spTree>
      <p:nvGrpSpPr>
        <p:cNvPr id="1" name=""/>
        <p:cNvGrpSpPr/>
        <p:nvPr/>
      </p:nvGrpSpPr>
      <p:grpSpPr>
        <a:xfrm>
          <a:off x="0" y="0"/>
          <a:ext cx="0" cy="0"/>
          <a:chOff x="0" y="0"/>
          <a:chExt cx="0" cy="0"/>
        </a:xfrm>
      </p:grpSpPr>
      <p:sp>
        <p:nvSpPr>
          <p:cNvPr id="2" name="tb"/>
          <p:cNvSpPr/>
          <p:nvPr/>
        </p:nvSpPr>
        <p:spPr>
          <a:xfrm>
            <a:off x="548640" y="384048"/>
            <a:ext cx="10515600" cy="274320"/>
          </a:xfrm>
          <a:prstGeom prst="rect">
            <a:avLst/>
          </a:prstGeom>
          <a:noFill/>
          <a:ln/>
        </p:spPr>
        <p:txBody>
          <a:bodyPr wrap="square" rtlCol="0" anchor="ctr">
            <a:normAutofit/>
          </a:bodyPr>
          <a:lstStyle/>
          <a:p>
            <a:pPr marL="0" indent="0" algn="l">
              <a:buNone/>
            </a:pPr>
            <a:r>
              <a:rPr lang="cs-CZ" sz="1200" b="1" kern="0" spc="200" dirty="0">
                <a:solidFill>
                  <a:srgbClr val="4FC3F7"/>
                </a:solidFill>
                <a:latin typeface="Calibri" pitchFamily="34" charset="0"/>
                <a:cs typeface="Calibri" pitchFamily="34" charset="0"/>
              </a:rPr>
              <a:t>ZNOVUPOUŽITELNÉ KOMPONENTY</a:t>
            </a:r>
          </a:p>
        </p:txBody>
      </p:sp>
      <p:sp>
        <p:nvSpPr>
          <p:cNvPr id="3" name="tb"/>
          <p:cNvSpPr/>
          <p:nvPr/>
        </p:nvSpPr>
        <p:spPr>
          <a:xfrm>
            <a:off x="548640" y="640080"/>
            <a:ext cx="11064240" cy="685800"/>
          </a:xfrm>
          <a:prstGeom prst="rect">
            <a:avLst/>
          </a:prstGeom>
          <a:noFill/>
          <a:ln/>
        </p:spPr>
        <p:txBody>
          <a:bodyPr wrap="square" rtlCol="0" anchor="ctr">
            <a:normAutofit/>
          </a:bodyPr>
          <a:lstStyle/>
          <a:p>
            <a:pPr marL="0" indent="0" algn="l">
              <a:buNone/>
            </a:pPr>
            <a:r>
              <a:rPr lang="cs-CZ" sz="3000" b="1" kern="0" dirty="0">
                <a:solidFill>
                  <a:srgbClr val="E6EDF3"/>
                </a:solidFill>
                <a:latin typeface="Cambria" pitchFamily="34" charset="0"/>
                <a:cs typeface="Cambria" pitchFamily="34" charset="0"/>
              </a:rPr>
              <a:t>Obecné komponenty připravené pro další entity</a:t>
            </a:r>
          </a:p>
        </p:txBody>
      </p:sp>
      <p:sp>
        <p:nvSpPr>
          <p:cNvPr id="4" name="tb"/>
          <p:cNvSpPr/>
          <p:nvPr/>
        </p:nvSpPr>
        <p:spPr>
          <a:xfrm>
            <a:off x="548640" y="1310640"/>
            <a:ext cx="11064240" cy="320040"/>
          </a:xfrm>
          <a:prstGeom prst="rect">
            <a:avLst/>
          </a:prstGeom>
          <a:noFill/>
          <a:ln/>
        </p:spPr>
        <p:txBody>
          <a:bodyPr wrap="square" rtlCol="0" anchor="ctr">
            <a:normAutofit/>
          </a:bodyPr>
          <a:lstStyle/>
          <a:p>
            <a:pPr marL="0" indent="0" algn="l">
              <a:buNone/>
            </a:pPr>
            <a:r>
              <a:rPr lang="cs-CZ" sz="1400" kern="0" dirty="0">
                <a:solidFill>
                  <a:srgbClr val="8B98AC"/>
                </a:solidFill>
                <a:latin typeface="Calibri" pitchFamily="34" charset="0"/>
                <a:cs typeface="Calibri" pitchFamily="34" charset="0"/>
              </a:rPr>
              <a:t>Nezávislé na entitě Subject — parametrizované přes props, použitelné v celém informačním systému.</a:t>
            </a:r>
          </a:p>
        </p:txBody>
      </p:sp>
      <p:sp>
        <p:nvSpPr>
          <p:cNvPr id="5" name="card"/>
          <p:cNvSpPr/>
          <p:nvPr/>
        </p:nvSpPr>
        <p:spPr>
          <a:xfrm>
            <a:off x="548640" y="1751400"/>
            <a:ext cx="3596640" cy="1965960"/>
          </a:xfrm>
          <a:prstGeom prst="roundRect">
            <a:avLst>
              <a:gd name="adj" fmla="val 4200"/>
            </a:avLst>
          </a:prstGeom>
          <a:solidFill>
            <a:srgbClr val="1B2333"/>
          </a:solidFill>
          <a:ln w="12700">
            <a:solidFill>
              <a:srgbClr val="2C3A52"/>
            </a:solidFill>
          </a:ln>
        </p:spPr>
        <p:txBody>
          <a:bodyPr rtlCol="0"/>
          <a:lstStyle/>
          <a:p>
            <a:endParaRPr lang="cs-CZ"/>
          </a:p>
        </p:txBody>
      </p:sp>
      <p:sp>
        <p:nvSpPr>
          <p:cNvPr id="6" name="badge"/>
          <p:cNvSpPr/>
          <p:nvPr/>
        </p:nvSpPr>
        <p:spPr>
          <a:xfrm>
            <a:off x="868640" y="2051400"/>
            <a:ext cx="700000" cy="700000"/>
          </a:xfrm>
          <a:prstGeom prst="ellipse">
            <a:avLst/>
          </a:prstGeom>
          <a:solidFill>
            <a:srgbClr val="4FC3F7"/>
          </a:solidFill>
          <a:ln/>
        </p:spPr>
        <p:txBody>
          <a:bodyPr rtlCol="0" anchor="ctr"/>
          <a:lstStyle/>
          <a:p>
            <a:pPr algn="ctr">
              <a:buNone/>
            </a:pPr>
            <a:r>
              <a:rPr lang="cs-CZ" sz="1400" b="1" kern="0" dirty="0">
                <a:solidFill>
                  <a:srgbClr val="0F1420"/>
                </a:solidFill>
                <a:latin typeface="Consolas" pitchFamily="49" charset="0"/>
                <a:cs typeface="Consolas" pitchFamily="49" charset="0"/>
              </a:rPr>
              <a:t>A</a:t>
            </a:r>
          </a:p>
        </p:txBody>
      </p:sp>
      <p:sp>
        <p:nvSpPr>
          <p:cNvPr id="7" name="tb"/>
          <p:cNvSpPr/>
          <p:nvPr/>
        </p:nvSpPr>
        <p:spPr>
          <a:xfrm>
            <a:off x="1768640" y="2001400"/>
            <a:ext cx="2136640" cy="720000"/>
          </a:xfrm>
          <a:prstGeom prst="rect">
            <a:avLst/>
          </a:prstGeom>
          <a:noFill/>
          <a:ln/>
        </p:spPr>
        <p:txBody>
          <a:bodyPr wrap="square" rtlCol="0" anchor="t">
            <a:normAutofit/>
          </a:bodyPr>
          <a:lstStyle/>
          <a:p>
            <a:pPr marL="0" indent="0" algn="l">
              <a:buNone/>
            </a:pPr>
            <a:r>
              <a:rPr lang="cs-CZ" sz="1300" b="1" kern="0" dirty="0">
                <a:solidFill>
                  <a:srgbClr val="E6EDF3"/>
                </a:solidFill>
                <a:latin typeface="Consolas" pitchFamily="34" charset="0"/>
                <a:cs typeface="Consolas" pitchFamily="34" charset="0"/>
              </a:rPr>
              <a:t>AddNamedTypedItem</a:t>
            </a:r>
          </a:p>
          <a:p>
            <a:pPr marL="0" indent="0" algn="l">
              <a:spcBef>
                <a:spcPts val="300"/>
              </a:spcBef>
              <a:buNone/>
            </a:pPr>
            <a:r>
              <a:rPr lang="cs-CZ" sz="1050" b="1" kern="0" dirty="0">
                <a:solidFill>
                  <a:srgbClr val="4FC3F7"/>
                </a:solidFill>
                <a:latin typeface="Calibri" pitchFamily="34" charset="0"/>
                <a:cs typeface="Calibri" pitchFamily="34" charset="0"/>
              </a:rPr>
              <a:t>Card</a:t>
            </a:r>
          </a:p>
        </p:txBody>
      </p:sp>
      <p:sp>
        <p:nvSpPr>
          <p:cNvPr id="8" name="tb"/>
          <p:cNvSpPr/>
          <p:nvPr/>
        </p:nvSpPr>
        <p:spPr>
          <a:xfrm>
            <a:off x="868640" y="2761400"/>
            <a:ext cx="3076640" cy="785960"/>
          </a:xfrm>
          <a:prstGeom prst="rect">
            <a:avLst/>
          </a:prstGeom>
          <a:noFill/>
          <a:ln/>
        </p:spPr>
        <p:txBody>
          <a:bodyPr wrap="square" rtlCol="0" anchor="t">
            <a:normAutofit/>
          </a:bodyPr>
          <a:lstStyle/>
          <a:p>
            <a:pPr marL="0" indent="0" algn="l">
              <a:buNone/>
            </a:pPr>
            <a:r>
              <a:rPr lang="cs-CZ" sz="1100" kern="0" dirty="0">
                <a:solidFill>
                  <a:srgbClr val="8B98AC"/>
                </a:solidFill>
                <a:latin typeface="Calibri" pitchFamily="34" charset="0"/>
                <a:cs typeface="Calibri" pitchFamily="34" charset="0"/>
              </a:rPr>
              <a:t>Generický kartový přidávač.</a:t>
            </a:r>
          </a:p>
          <a:p>
            <a:pPr marL="0" indent="0" algn="l">
              <a:spcBef>
                <a:spcPts val="400"/>
              </a:spcBef>
              <a:buNone/>
            </a:pPr>
            <a:r>
              <a:rPr lang="cs-CZ" sz="1050" b="1" kern="0" dirty="0">
                <a:solidFill>
                  <a:srgbClr val="4FC3F7"/>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název + typ přes select</a:t>
            </a:r>
          </a:p>
          <a:p>
            <a:pPr marL="0" indent="0" algn="l">
              <a:spcBef>
                <a:spcPts val="400"/>
              </a:spcBef>
              <a:buNone/>
            </a:pPr>
            <a:r>
              <a:rPr lang="cs-CZ" sz="1050" b="1" kern="0" dirty="0">
                <a:solidFill>
                  <a:srgbClr val="4FC3F7"/>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znovupouž. pro libovolnou entitu</a:t>
            </a:r>
          </a:p>
        </p:txBody>
      </p:sp>
      <p:sp>
        <p:nvSpPr>
          <p:cNvPr id="9" name="card"/>
          <p:cNvSpPr/>
          <p:nvPr/>
        </p:nvSpPr>
        <p:spPr>
          <a:xfrm>
            <a:off x="4373880" y="1751400"/>
            <a:ext cx="3596640" cy="1965960"/>
          </a:xfrm>
          <a:prstGeom prst="roundRect">
            <a:avLst>
              <a:gd name="adj" fmla="val 4200"/>
            </a:avLst>
          </a:prstGeom>
          <a:solidFill>
            <a:srgbClr val="1B2333"/>
          </a:solidFill>
          <a:ln w="12700">
            <a:solidFill>
              <a:srgbClr val="2C3A52"/>
            </a:solidFill>
          </a:ln>
        </p:spPr>
        <p:txBody>
          <a:bodyPr rtlCol="0"/>
          <a:lstStyle/>
          <a:p>
            <a:endParaRPr lang="cs-CZ"/>
          </a:p>
        </p:txBody>
      </p:sp>
      <p:sp>
        <p:nvSpPr>
          <p:cNvPr id="10" name="badge"/>
          <p:cNvSpPr/>
          <p:nvPr/>
        </p:nvSpPr>
        <p:spPr>
          <a:xfrm>
            <a:off x="4693880" y="2051400"/>
            <a:ext cx="700000" cy="700000"/>
          </a:xfrm>
          <a:prstGeom prst="ellipse">
            <a:avLst/>
          </a:prstGeom>
          <a:solidFill>
            <a:srgbClr val="F0A868"/>
          </a:solidFill>
          <a:ln/>
        </p:spPr>
        <p:txBody>
          <a:bodyPr rtlCol="0" anchor="ctr"/>
          <a:lstStyle/>
          <a:p>
            <a:pPr algn="ctr">
              <a:buNone/>
            </a:pPr>
            <a:r>
              <a:rPr lang="cs-CZ" sz="1400" b="1" kern="0" dirty="0">
                <a:solidFill>
                  <a:srgbClr val="0F1420"/>
                </a:solidFill>
                <a:latin typeface="Consolas" pitchFamily="49" charset="0"/>
                <a:cs typeface="Consolas" pitchFamily="49" charset="0"/>
              </a:rPr>
              <a:t>!</a:t>
            </a:r>
          </a:p>
        </p:txBody>
      </p:sp>
      <p:sp>
        <p:nvSpPr>
          <p:cNvPr id="11" name="tb"/>
          <p:cNvSpPr/>
          <p:nvPr/>
        </p:nvSpPr>
        <p:spPr>
          <a:xfrm>
            <a:off x="5593880" y="2001400"/>
            <a:ext cx="2136640" cy="720000"/>
          </a:xfrm>
          <a:prstGeom prst="rect">
            <a:avLst/>
          </a:prstGeom>
          <a:noFill/>
          <a:ln/>
        </p:spPr>
        <p:txBody>
          <a:bodyPr wrap="square" rtlCol="0" anchor="t">
            <a:normAutofit/>
          </a:bodyPr>
          <a:lstStyle/>
          <a:p>
            <a:pPr marL="0" indent="0" algn="l">
              <a:buNone/>
            </a:pPr>
            <a:r>
              <a:rPr lang="cs-CZ" sz="1300" b="1" kern="0" dirty="0">
                <a:solidFill>
                  <a:srgbClr val="E6EDF3"/>
                </a:solidFill>
                <a:latin typeface="Consolas" pitchFamily="34" charset="0"/>
                <a:cs typeface="Consolas" pitchFamily="34" charset="0"/>
              </a:rPr>
              <a:t>AlertBanner</a:t>
            </a:r>
          </a:p>
          <a:p>
            <a:pPr marL="0" indent="0" algn="l">
              <a:spcBef>
                <a:spcPts val="300"/>
              </a:spcBef>
              <a:buNone/>
            </a:pPr>
            <a:r>
              <a:rPr lang="cs-CZ" sz="1050" b="1" kern="0" dirty="0">
                <a:solidFill>
                  <a:srgbClr val="F0A868"/>
                </a:solidFill>
                <a:latin typeface="Calibri" pitchFamily="34" charset="0"/>
                <a:cs typeface="Calibri" pitchFamily="34" charset="0"/>
              </a:rPr>
              <a:t>Feedback</a:t>
            </a:r>
          </a:p>
        </p:txBody>
      </p:sp>
      <p:sp>
        <p:nvSpPr>
          <p:cNvPr id="12" name="tb"/>
          <p:cNvSpPr/>
          <p:nvPr/>
        </p:nvSpPr>
        <p:spPr>
          <a:xfrm>
            <a:off x="4693880" y="2761400"/>
            <a:ext cx="3076640" cy="785960"/>
          </a:xfrm>
          <a:prstGeom prst="rect">
            <a:avLst/>
          </a:prstGeom>
          <a:noFill/>
          <a:ln/>
        </p:spPr>
        <p:txBody>
          <a:bodyPr wrap="square" rtlCol="0" anchor="t">
            <a:normAutofit/>
          </a:bodyPr>
          <a:lstStyle/>
          <a:p>
            <a:pPr marL="0" indent="0" algn="l">
              <a:buNone/>
            </a:pPr>
            <a:r>
              <a:rPr lang="cs-CZ" sz="1100" kern="0" dirty="0">
                <a:solidFill>
                  <a:srgbClr val="8B98AC"/>
                </a:solidFill>
                <a:latin typeface="Calibri" pitchFamily="34" charset="0"/>
                <a:cs typeface="Calibri" pitchFamily="34" charset="0"/>
              </a:rPr>
              <a:t>Jednotné hlášky v UI.</a:t>
            </a:r>
          </a:p>
          <a:p>
            <a:pPr marL="0" indent="0" algn="l">
              <a:spcBef>
                <a:spcPts val="400"/>
              </a:spcBef>
              <a:buNone/>
            </a:pPr>
            <a:r>
              <a:rPr lang="cs-CZ" sz="1050" b="1" kern="0" dirty="0">
                <a:solidFill>
                  <a:srgbClr val="F0A868"/>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success / error / info varianty</a:t>
            </a:r>
          </a:p>
          <a:p>
            <a:pPr marL="0" indent="0" algn="l">
              <a:spcBef>
                <a:spcPts val="400"/>
              </a:spcBef>
              <a:buNone/>
            </a:pPr>
            <a:r>
              <a:rPr lang="cs-CZ" sz="1050" b="1" kern="0" dirty="0">
                <a:solidFill>
                  <a:srgbClr val="F0A868"/>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překlad backend chyb</a:t>
            </a:r>
          </a:p>
        </p:txBody>
      </p:sp>
      <p:sp>
        <p:nvSpPr>
          <p:cNvPr id="13" name="card"/>
          <p:cNvSpPr/>
          <p:nvPr/>
        </p:nvSpPr>
        <p:spPr>
          <a:xfrm>
            <a:off x="8199120" y="1751400"/>
            <a:ext cx="3596640" cy="1965960"/>
          </a:xfrm>
          <a:prstGeom prst="roundRect">
            <a:avLst>
              <a:gd name="adj" fmla="val 4200"/>
            </a:avLst>
          </a:prstGeom>
          <a:solidFill>
            <a:srgbClr val="1B2333"/>
          </a:solidFill>
          <a:ln w="12700">
            <a:solidFill>
              <a:srgbClr val="2C3A52"/>
            </a:solidFill>
          </a:ln>
        </p:spPr>
        <p:txBody>
          <a:bodyPr rtlCol="0"/>
          <a:lstStyle/>
          <a:p>
            <a:endParaRPr lang="cs-CZ"/>
          </a:p>
        </p:txBody>
      </p:sp>
      <p:sp>
        <p:nvSpPr>
          <p:cNvPr id="14" name="badge"/>
          <p:cNvSpPr/>
          <p:nvPr/>
        </p:nvSpPr>
        <p:spPr>
          <a:xfrm>
            <a:off x="8519120" y="2051400"/>
            <a:ext cx="700000" cy="700000"/>
          </a:xfrm>
          <a:prstGeom prst="ellipse">
            <a:avLst/>
          </a:prstGeom>
          <a:solidFill>
            <a:srgbClr val="F778BA"/>
          </a:solidFill>
          <a:ln/>
        </p:spPr>
        <p:txBody>
          <a:bodyPr rtlCol="0" anchor="ctr"/>
          <a:lstStyle/>
          <a:p>
            <a:pPr algn="ctr">
              <a:buNone/>
            </a:pPr>
            <a:r>
              <a:rPr lang="cs-CZ" sz="1400" b="1" kern="0" dirty="0">
                <a:solidFill>
                  <a:srgbClr val="0F1420"/>
                </a:solidFill>
                <a:latin typeface="Consolas" pitchFamily="49" charset="0"/>
                <a:cs typeface="Consolas" pitchFamily="49" charset="0"/>
              </a:rPr>
              <a:t>?</a:t>
            </a:r>
          </a:p>
        </p:txBody>
      </p:sp>
      <p:sp>
        <p:nvSpPr>
          <p:cNvPr id="15" name="tb"/>
          <p:cNvSpPr/>
          <p:nvPr/>
        </p:nvSpPr>
        <p:spPr>
          <a:xfrm>
            <a:off x="9419120" y="2001400"/>
            <a:ext cx="2136640" cy="720000"/>
          </a:xfrm>
          <a:prstGeom prst="rect">
            <a:avLst/>
          </a:prstGeom>
          <a:noFill/>
          <a:ln/>
        </p:spPr>
        <p:txBody>
          <a:bodyPr wrap="square" rtlCol="0" anchor="t">
            <a:normAutofit/>
          </a:bodyPr>
          <a:lstStyle/>
          <a:p>
            <a:pPr marL="0" indent="0" algn="l">
              <a:buNone/>
            </a:pPr>
            <a:r>
              <a:rPr lang="cs-CZ" sz="1300" b="1" kern="0" dirty="0">
                <a:solidFill>
                  <a:srgbClr val="E6EDF3"/>
                </a:solidFill>
                <a:latin typeface="Consolas" pitchFamily="34" charset="0"/>
                <a:cs typeface="Consolas" pitchFamily="34" charset="0"/>
              </a:rPr>
              <a:t>ConfirmForm</a:t>
            </a:r>
          </a:p>
          <a:p>
            <a:pPr marL="0" indent="0" algn="l">
              <a:spcBef>
                <a:spcPts val="300"/>
              </a:spcBef>
              <a:buNone/>
            </a:pPr>
            <a:r>
              <a:rPr lang="cs-CZ" sz="1050" b="1" kern="0" dirty="0">
                <a:solidFill>
                  <a:srgbClr val="F778BA"/>
                </a:solidFill>
                <a:latin typeface="Calibri" pitchFamily="34" charset="0"/>
                <a:cs typeface="Calibri" pitchFamily="34" charset="0"/>
              </a:rPr>
              <a:t>Dialog</a:t>
            </a:r>
          </a:p>
        </p:txBody>
      </p:sp>
      <p:sp>
        <p:nvSpPr>
          <p:cNvPr id="16" name="tb"/>
          <p:cNvSpPr/>
          <p:nvPr/>
        </p:nvSpPr>
        <p:spPr>
          <a:xfrm>
            <a:off x="8519120" y="2761400"/>
            <a:ext cx="3076640" cy="785960"/>
          </a:xfrm>
          <a:prstGeom prst="rect">
            <a:avLst/>
          </a:prstGeom>
          <a:noFill/>
          <a:ln/>
        </p:spPr>
        <p:txBody>
          <a:bodyPr wrap="square" rtlCol="0" anchor="t">
            <a:normAutofit/>
          </a:bodyPr>
          <a:lstStyle/>
          <a:p>
            <a:pPr marL="0" indent="0" algn="l">
              <a:buNone/>
            </a:pPr>
            <a:r>
              <a:rPr lang="cs-CZ" sz="1100" kern="0" dirty="0">
                <a:solidFill>
                  <a:srgbClr val="8B98AC"/>
                </a:solidFill>
                <a:latin typeface="Calibri" pitchFamily="34" charset="0"/>
                <a:cs typeface="Calibri" pitchFamily="34" charset="0"/>
              </a:rPr>
              <a:t>Potvrzení nevratných akcí.</a:t>
            </a:r>
          </a:p>
          <a:p>
            <a:pPr marL="0" indent="0" algn="l">
              <a:spcBef>
                <a:spcPts val="400"/>
              </a:spcBef>
              <a:buNone/>
            </a:pPr>
            <a:r>
              <a:rPr lang="cs-CZ" sz="1050" b="1" kern="0" dirty="0">
                <a:solidFill>
                  <a:srgbClr val="F778BA"/>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výběr položek k akci</a:t>
            </a:r>
          </a:p>
          <a:p>
            <a:pPr marL="0" indent="0" algn="l">
              <a:spcBef>
                <a:spcPts val="400"/>
              </a:spcBef>
              <a:buNone/>
            </a:pPr>
            <a:r>
              <a:rPr lang="cs-CZ" sz="1050" b="1" kern="0" dirty="0">
                <a:solidFill>
                  <a:srgbClr val="F778BA"/>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sdílený mazáním i generátorem</a:t>
            </a:r>
          </a:p>
        </p:txBody>
      </p:sp>
      <p:sp>
        <p:nvSpPr>
          <p:cNvPr id="17" name="card"/>
          <p:cNvSpPr/>
          <p:nvPr/>
        </p:nvSpPr>
        <p:spPr>
          <a:xfrm>
            <a:off x="548640" y="3923100"/>
            <a:ext cx="3596640" cy="1965960"/>
          </a:xfrm>
          <a:prstGeom prst="roundRect">
            <a:avLst>
              <a:gd name="adj" fmla="val 4200"/>
            </a:avLst>
          </a:prstGeom>
          <a:solidFill>
            <a:srgbClr val="1B2333"/>
          </a:solidFill>
          <a:ln w="12700">
            <a:solidFill>
              <a:srgbClr val="2C3A52"/>
            </a:solidFill>
          </a:ln>
        </p:spPr>
        <p:txBody>
          <a:bodyPr rtlCol="0"/>
          <a:lstStyle/>
          <a:p>
            <a:endParaRPr lang="cs-CZ"/>
          </a:p>
        </p:txBody>
      </p:sp>
      <p:sp>
        <p:nvSpPr>
          <p:cNvPr id="18" name="badge"/>
          <p:cNvSpPr/>
          <p:nvPr/>
        </p:nvSpPr>
        <p:spPr>
          <a:xfrm>
            <a:off x="868640" y="4223100"/>
            <a:ext cx="700000" cy="700000"/>
          </a:xfrm>
          <a:prstGeom prst="ellipse">
            <a:avLst/>
          </a:prstGeom>
          <a:solidFill>
            <a:srgbClr val="7EE787"/>
          </a:solidFill>
          <a:ln/>
        </p:spPr>
        <p:txBody>
          <a:bodyPr rtlCol="0" anchor="ctr"/>
          <a:lstStyle/>
          <a:p>
            <a:pPr algn="ctr">
              <a:buNone/>
            </a:pPr>
            <a:r>
              <a:rPr lang="cs-CZ" sz="1400" b="1" kern="0" dirty="0">
                <a:solidFill>
                  <a:srgbClr val="0F1420"/>
                </a:solidFill>
                <a:latin typeface="Consolas" pitchFamily="49" charset="0"/>
                <a:cs typeface="Consolas" pitchFamily="49" charset="0"/>
              </a:rPr>
              <a:t>{}</a:t>
            </a:r>
          </a:p>
        </p:txBody>
      </p:sp>
      <p:sp>
        <p:nvSpPr>
          <p:cNvPr id="19" name="tb"/>
          <p:cNvSpPr/>
          <p:nvPr/>
        </p:nvSpPr>
        <p:spPr>
          <a:xfrm>
            <a:off x="1768640" y="4173100"/>
            <a:ext cx="2136640" cy="720000"/>
          </a:xfrm>
          <a:prstGeom prst="rect">
            <a:avLst/>
          </a:prstGeom>
          <a:noFill/>
          <a:ln/>
        </p:spPr>
        <p:txBody>
          <a:bodyPr wrap="square" rtlCol="0" anchor="t">
            <a:normAutofit/>
          </a:bodyPr>
          <a:lstStyle/>
          <a:p>
            <a:pPr marL="0" indent="0" algn="l">
              <a:buNone/>
            </a:pPr>
            <a:r>
              <a:rPr lang="cs-CZ" sz="1300" b="1" kern="0" dirty="0">
                <a:solidFill>
                  <a:srgbClr val="E6EDF3"/>
                </a:solidFill>
                <a:latin typeface="Consolas" pitchFamily="34" charset="0"/>
                <a:cs typeface="Consolas" pitchFamily="34" charset="0"/>
              </a:rPr>
              <a:t>JsonStateTools</a:t>
            </a:r>
          </a:p>
          <a:p>
            <a:pPr marL="0" indent="0" algn="l">
              <a:spcBef>
                <a:spcPts val="300"/>
              </a:spcBef>
              <a:buNone/>
            </a:pPr>
            <a:r>
              <a:rPr lang="cs-CZ" sz="1050" b="1" kern="0" dirty="0">
                <a:solidFill>
                  <a:srgbClr val="7EE787"/>
                </a:solidFill>
                <a:latin typeface="Calibri" pitchFamily="34" charset="0"/>
                <a:cs typeface="Calibri" pitchFamily="34" charset="0"/>
              </a:rPr>
              <a:t>State</a:t>
            </a:r>
          </a:p>
        </p:txBody>
      </p:sp>
      <p:sp>
        <p:nvSpPr>
          <p:cNvPr id="20" name="tb"/>
          <p:cNvSpPr/>
          <p:nvPr/>
        </p:nvSpPr>
        <p:spPr>
          <a:xfrm>
            <a:off x="868640" y="4933100"/>
            <a:ext cx="3076640" cy="785960"/>
          </a:xfrm>
          <a:prstGeom prst="rect">
            <a:avLst/>
          </a:prstGeom>
          <a:noFill/>
          <a:ln/>
        </p:spPr>
        <p:txBody>
          <a:bodyPr wrap="square" rtlCol="0" anchor="t">
            <a:normAutofit/>
          </a:bodyPr>
          <a:lstStyle/>
          <a:p>
            <a:pPr marL="0" indent="0" algn="l">
              <a:buNone/>
            </a:pPr>
            <a:r>
              <a:rPr lang="cs-CZ" sz="1100" kern="0" dirty="0">
                <a:solidFill>
                  <a:srgbClr val="8B98AC"/>
                </a:solidFill>
                <a:latin typeface="Calibri" pitchFamily="34" charset="0"/>
                <a:cs typeface="Calibri" pitchFamily="34" charset="0"/>
              </a:rPr>
              <a:t>Práce s JSON stavem.</a:t>
            </a:r>
          </a:p>
          <a:p>
            <a:pPr marL="0" indent="0" algn="l">
              <a:spcBef>
                <a:spcPts val="400"/>
              </a:spcBef>
              <a:buNone/>
            </a:pPr>
            <a:r>
              <a:rPr lang="cs-CZ" sz="1050" b="1" kern="0" dirty="0">
                <a:solidFill>
                  <a:srgbClr val="7EE787"/>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import / export / diff</a:t>
            </a:r>
          </a:p>
          <a:p>
            <a:pPr marL="0" indent="0" algn="l">
              <a:spcBef>
                <a:spcPts val="400"/>
              </a:spcBef>
              <a:buNone/>
            </a:pPr>
            <a:r>
              <a:rPr lang="cs-CZ" sz="1050" b="1" kern="0" dirty="0">
                <a:solidFill>
                  <a:srgbClr val="7EE787"/>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ladění a serializace formuláře</a:t>
            </a:r>
          </a:p>
        </p:txBody>
      </p:sp>
      <p:sp>
        <p:nvSpPr>
          <p:cNvPr id="21" name="card"/>
          <p:cNvSpPr/>
          <p:nvPr/>
        </p:nvSpPr>
        <p:spPr>
          <a:xfrm>
            <a:off x="4373880" y="3923100"/>
            <a:ext cx="3596640" cy="1965960"/>
          </a:xfrm>
          <a:prstGeom prst="roundRect">
            <a:avLst>
              <a:gd name="adj" fmla="val 4200"/>
            </a:avLst>
          </a:prstGeom>
          <a:solidFill>
            <a:srgbClr val="1B2333"/>
          </a:solidFill>
          <a:ln w="12700">
            <a:solidFill>
              <a:srgbClr val="2C3A52"/>
            </a:solidFill>
          </a:ln>
        </p:spPr>
        <p:txBody>
          <a:bodyPr rtlCol="0"/>
          <a:lstStyle/>
          <a:p>
            <a:endParaRPr lang="cs-CZ"/>
          </a:p>
        </p:txBody>
      </p:sp>
      <p:sp>
        <p:nvSpPr>
          <p:cNvPr id="22" name="badge"/>
          <p:cNvSpPr/>
          <p:nvPr/>
        </p:nvSpPr>
        <p:spPr>
          <a:xfrm>
            <a:off x="4693880" y="4223100"/>
            <a:ext cx="700000" cy="700000"/>
          </a:xfrm>
          <a:prstGeom prst="ellipse">
            <a:avLst/>
          </a:prstGeom>
          <a:solidFill>
            <a:srgbClr val="4FC3F7"/>
          </a:solidFill>
          <a:ln/>
        </p:spPr>
        <p:txBody>
          <a:bodyPr rtlCol="0" anchor="ctr"/>
          <a:lstStyle/>
          <a:p>
            <a:pPr algn="ctr">
              <a:buNone/>
            </a:pPr>
            <a:r>
              <a:rPr lang="cs-CZ" sz="1400" b="1" kern="0" dirty="0">
                <a:solidFill>
                  <a:srgbClr val="0F1420"/>
                </a:solidFill>
                <a:latin typeface="Consolas" pitchFamily="49" charset="0"/>
                <a:cs typeface="Consolas" pitchFamily="49" charset="0"/>
              </a:rPr>
              <a:t>S</a:t>
            </a:r>
          </a:p>
        </p:txBody>
      </p:sp>
      <p:sp>
        <p:nvSpPr>
          <p:cNvPr id="23" name="tb"/>
          <p:cNvSpPr/>
          <p:nvPr/>
        </p:nvSpPr>
        <p:spPr>
          <a:xfrm>
            <a:off x="5593880" y="4173100"/>
            <a:ext cx="2136640" cy="720000"/>
          </a:xfrm>
          <a:prstGeom prst="rect">
            <a:avLst/>
          </a:prstGeom>
          <a:noFill/>
          <a:ln/>
        </p:spPr>
        <p:txBody>
          <a:bodyPr wrap="square" rtlCol="0" anchor="t">
            <a:normAutofit/>
          </a:bodyPr>
          <a:lstStyle/>
          <a:p>
            <a:pPr marL="0" indent="0" algn="l">
              <a:buNone/>
            </a:pPr>
            <a:r>
              <a:rPr lang="cs-CZ" sz="1300" b="1" kern="0" dirty="0">
                <a:solidFill>
                  <a:srgbClr val="E6EDF3"/>
                </a:solidFill>
                <a:latin typeface="Consolas" pitchFamily="34" charset="0"/>
                <a:cs typeface="Consolas" pitchFamily="34" charset="0"/>
              </a:rPr>
              <a:t>SemestersManager</a:t>
            </a:r>
          </a:p>
          <a:p>
            <a:pPr marL="0" indent="0" algn="l">
              <a:spcBef>
                <a:spcPts val="300"/>
              </a:spcBef>
              <a:buNone/>
            </a:pPr>
            <a:r>
              <a:rPr lang="cs-CZ" sz="1050" b="1" kern="0" dirty="0">
                <a:solidFill>
                  <a:srgbClr val="4FC3F7"/>
                </a:solidFill>
                <a:latin typeface="Calibri" pitchFamily="34" charset="0"/>
                <a:cs typeface="Calibri" pitchFamily="34" charset="0"/>
              </a:rPr>
              <a:t>List</a:t>
            </a:r>
          </a:p>
        </p:txBody>
      </p:sp>
      <p:sp>
        <p:nvSpPr>
          <p:cNvPr id="24" name="tb"/>
          <p:cNvSpPr/>
          <p:nvPr/>
        </p:nvSpPr>
        <p:spPr>
          <a:xfrm>
            <a:off x="4693880" y="4933100"/>
            <a:ext cx="3076640" cy="785960"/>
          </a:xfrm>
          <a:prstGeom prst="rect">
            <a:avLst/>
          </a:prstGeom>
          <a:noFill/>
          <a:ln/>
        </p:spPr>
        <p:txBody>
          <a:bodyPr wrap="square" rtlCol="0" anchor="t">
            <a:normAutofit/>
          </a:bodyPr>
          <a:lstStyle/>
          <a:p>
            <a:pPr marL="0" indent="0" algn="l">
              <a:buNone/>
            </a:pPr>
            <a:r>
              <a:rPr lang="cs-CZ" sz="1100" kern="0" dirty="0">
                <a:solidFill>
                  <a:srgbClr val="8B98AC"/>
                </a:solidFill>
                <a:latin typeface="Calibri" pitchFamily="34" charset="0"/>
                <a:cs typeface="Calibri" pitchFamily="34" charset="0"/>
              </a:rPr>
              <a:t>Správce podřízeného 1:N seznamu.</a:t>
            </a:r>
          </a:p>
          <a:p>
            <a:pPr marL="0" indent="0" algn="l">
              <a:spcBef>
                <a:spcPts val="400"/>
              </a:spcBef>
              <a:buNone/>
            </a:pPr>
            <a:r>
              <a:rPr lang="cs-CZ" sz="1050" b="1" kern="0" dirty="0">
                <a:solidFill>
                  <a:srgbClr val="4FC3F7"/>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přidat / smazat / pořadí</a:t>
            </a:r>
          </a:p>
          <a:p>
            <a:pPr marL="0" indent="0" algn="l">
              <a:spcBef>
                <a:spcPts val="400"/>
              </a:spcBef>
              <a:buNone/>
            </a:pPr>
            <a:r>
              <a:rPr lang="cs-CZ" sz="1050" b="1" kern="0" dirty="0">
                <a:solidFill>
                  <a:srgbClr val="4FC3F7"/>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draft stav, řeší jen callbacky</a:t>
            </a:r>
          </a:p>
        </p:txBody>
      </p:sp>
      <p:sp>
        <p:nvSpPr>
          <p:cNvPr id="25" name="card"/>
          <p:cNvSpPr/>
          <p:nvPr/>
        </p:nvSpPr>
        <p:spPr>
          <a:xfrm>
            <a:off x="8199120" y="3923100"/>
            <a:ext cx="3596640" cy="1965960"/>
          </a:xfrm>
          <a:prstGeom prst="roundRect">
            <a:avLst>
              <a:gd name="adj" fmla="val 4200"/>
            </a:avLst>
          </a:prstGeom>
          <a:solidFill>
            <a:srgbClr val="1B2333"/>
          </a:solidFill>
          <a:ln w="12700">
            <a:solidFill>
              <a:srgbClr val="2C3A52"/>
            </a:solidFill>
          </a:ln>
        </p:spPr>
        <p:txBody>
          <a:bodyPr rtlCol="0"/>
          <a:lstStyle/>
          <a:p>
            <a:endParaRPr lang="cs-CZ"/>
          </a:p>
        </p:txBody>
      </p:sp>
      <p:sp>
        <p:nvSpPr>
          <p:cNvPr id="26" name="badge"/>
          <p:cNvSpPr/>
          <p:nvPr/>
        </p:nvSpPr>
        <p:spPr>
          <a:xfrm>
            <a:off x="8519120" y="4223100"/>
            <a:ext cx="700000" cy="700000"/>
          </a:xfrm>
          <a:prstGeom prst="ellipse">
            <a:avLst/>
          </a:prstGeom>
          <a:solidFill>
            <a:srgbClr val="F0A868"/>
          </a:solidFill>
          <a:ln/>
        </p:spPr>
        <p:txBody>
          <a:bodyPr rtlCol="0" anchor="ctr"/>
          <a:lstStyle/>
          <a:p>
            <a:pPr algn="ctr">
              <a:buNone/>
            </a:pPr>
            <a:r>
              <a:rPr lang="cs-CZ" sz="1400" b="1" kern="0" dirty="0">
                <a:solidFill>
                  <a:srgbClr val="0F1420"/>
                </a:solidFill>
                <a:latin typeface="Consolas" pitchFamily="49" charset="0"/>
                <a:cs typeface="Consolas" pitchFamily="49" charset="0"/>
              </a:rPr>
              <a:t>P</a:t>
            </a:r>
          </a:p>
        </p:txBody>
      </p:sp>
      <p:sp>
        <p:nvSpPr>
          <p:cNvPr id="27" name="tb"/>
          <p:cNvSpPr/>
          <p:nvPr/>
        </p:nvSpPr>
        <p:spPr>
          <a:xfrm>
            <a:off x="9419120" y="4173100"/>
            <a:ext cx="2136640" cy="720000"/>
          </a:xfrm>
          <a:prstGeom prst="rect">
            <a:avLst/>
          </a:prstGeom>
          <a:noFill/>
          <a:ln/>
        </p:spPr>
        <p:txBody>
          <a:bodyPr wrap="square" rtlCol="0" anchor="t">
            <a:normAutofit/>
          </a:bodyPr>
          <a:lstStyle/>
          <a:p>
            <a:pPr marL="0" indent="0" algn="l">
              <a:buNone/>
            </a:pPr>
            <a:r>
              <a:rPr lang="cs-CZ" sz="1300" b="1" kern="0" dirty="0">
                <a:solidFill>
                  <a:srgbClr val="E6EDF3"/>
                </a:solidFill>
                <a:latin typeface="Consolas" pitchFamily="34" charset="0"/>
                <a:cs typeface="Consolas" pitchFamily="34" charset="0"/>
              </a:rPr>
              <a:t>ProgramSelect</a:t>
            </a:r>
          </a:p>
          <a:p>
            <a:pPr marL="0" indent="0" algn="l">
              <a:spcBef>
                <a:spcPts val="300"/>
              </a:spcBef>
              <a:buNone/>
            </a:pPr>
            <a:r>
              <a:rPr lang="cs-CZ" sz="1050" b="1" kern="0" dirty="0">
                <a:solidFill>
                  <a:srgbClr val="F0A868"/>
                </a:solidFill>
                <a:latin typeface="Calibri" pitchFamily="34" charset="0"/>
                <a:cs typeface="Calibri" pitchFamily="34" charset="0"/>
              </a:rPr>
              <a:t>Picker</a:t>
            </a:r>
          </a:p>
        </p:txBody>
      </p:sp>
      <p:sp>
        <p:nvSpPr>
          <p:cNvPr id="28" name="tb"/>
          <p:cNvSpPr/>
          <p:nvPr/>
        </p:nvSpPr>
        <p:spPr>
          <a:xfrm>
            <a:off x="8519120" y="4933100"/>
            <a:ext cx="3076640" cy="785960"/>
          </a:xfrm>
          <a:prstGeom prst="rect">
            <a:avLst/>
          </a:prstGeom>
          <a:noFill/>
          <a:ln/>
        </p:spPr>
        <p:txBody>
          <a:bodyPr wrap="square" rtlCol="0" anchor="t">
            <a:normAutofit/>
          </a:bodyPr>
          <a:lstStyle/>
          <a:p>
            <a:pPr marL="0" indent="0" algn="l">
              <a:buNone/>
            </a:pPr>
            <a:r>
              <a:rPr lang="cs-CZ" sz="1100" kern="0" dirty="0">
                <a:solidFill>
                  <a:srgbClr val="8B98AC"/>
                </a:solidFill>
                <a:latin typeface="Calibri" pitchFamily="34" charset="0"/>
                <a:cs typeface="Calibri" pitchFamily="34" charset="0"/>
              </a:rPr>
              <a:t>Výběr z navázané entity.</a:t>
            </a:r>
          </a:p>
          <a:p>
            <a:pPr marL="0" indent="0" algn="l">
              <a:spcBef>
                <a:spcPts val="400"/>
              </a:spcBef>
              <a:buNone/>
            </a:pPr>
            <a:r>
              <a:rPr lang="cs-CZ" sz="1050" b="1" kern="0" dirty="0">
                <a:solidFill>
                  <a:srgbClr val="F0A868"/>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data z API, loading stav</a:t>
            </a:r>
          </a:p>
          <a:p>
            <a:pPr marL="0" indent="0" algn="l">
              <a:spcBef>
                <a:spcPts val="400"/>
              </a:spcBef>
              <a:buNone/>
            </a:pPr>
            <a:r>
              <a:rPr lang="cs-CZ" sz="1050" b="1" kern="0" dirty="0">
                <a:solidFill>
                  <a:srgbClr val="F0A868"/>
                </a:solidFill>
                <a:latin typeface="Calibri" pitchFamily="34" charset="0"/>
                <a:cs typeface="Calibri" pitchFamily="34" charset="0"/>
              </a:rPr>
              <a:t>▸ </a:t>
            </a:r>
            <a:r>
              <a:rPr lang="cs-CZ" sz="1050" kern="0" dirty="0">
                <a:solidFill>
                  <a:srgbClr val="C9D3E0"/>
                </a:solidFill>
                <a:latin typeface="Calibri" pitchFamily="34" charset="0"/>
                <a:cs typeface="Calibri" pitchFamily="34" charset="0"/>
              </a:rPr>
              <a:t>vzor pro každý cizí klíč</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name="Slide">
    <p:bg>
      <p:bgPr>
        <a:solidFill>
          <a:srgbClr val="0F1420"/>
        </a:solidFill>
        <a:effectLst/>
      </p:bgPr>
    </p:bg>
    <p:spTree>
      <p:nvGrpSpPr>
        <p:cNvPr id="1" name=""/>
        <p:cNvGrpSpPr/>
        <p:nvPr/>
      </p:nvGrpSpPr>
      <p:grpSpPr>
        <a:xfrm>
          <a:off x="0" y="0"/>
          <a:ext cx="0" cy="0"/>
          <a:chOff x="0" y="0"/>
          <a:chExt cx="0" cy="0"/>
        </a:xfrm>
      </p:grpSpPr>
      <p:sp>
        <p:nvSpPr>
          <p:cNvPr id="2" name="tb"/>
          <p:cNvSpPr/>
          <p:nvPr/>
        </p:nvSpPr>
        <p:spPr>
          <a:xfrm>
            <a:off x="548640" y="384048"/>
            <a:ext cx="10515600" cy="274320"/>
          </a:xfrm>
          <a:prstGeom prst="rect">
            <a:avLst/>
          </a:prstGeom>
          <a:noFill/>
          <a:ln/>
        </p:spPr>
        <p:txBody>
          <a:bodyPr wrap="square" rtlCol="0" anchor="ctr">
            <a:normAutofit/>
          </a:bodyPr>
          <a:lstStyle/>
          <a:p>
            <a:pPr marL="0" indent="0" algn="l">
              <a:buNone/>
            </a:pPr>
            <a:r>
              <a:rPr lang="cs-CZ" sz="1200" b="1" kern="0" spc="200" dirty="0">
                <a:solidFill>
                  <a:srgbClr val="4FC3F7"/>
                </a:solidFill>
                <a:latin typeface="Calibri" pitchFamily="34" charset="0"/>
                <a:cs typeface="Calibri" pitchFamily="34" charset="0"/>
              </a:rPr>
              <a:t>UDRŽITELNOST &amp; STRUKTURA</a:t>
            </a:r>
          </a:p>
        </p:txBody>
      </p:sp>
      <p:sp>
        <p:nvSpPr>
          <p:cNvPr id="3" name="tb"/>
          <p:cNvSpPr/>
          <p:nvPr/>
        </p:nvSpPr>
        <p:spPr>
          <a:xfrm>
            <a:off x="548640" y="640080"/>
            <a:ext cx="11064240" cy="685800"/>
          </a:xfrm>
          <a:prstGeom prst="rect">
            <a:avLst/>
          </a:prstGeom>
          <a:noFill/>
          <a:ln/>
        </p:spPr>
        <p:txBody>
          <a:bodyPr wrap="square" rtlCol="0" anchor="ctr">
            <a:normAutofit/>
          </a:bodyPr>
          <a:lstStyle/>
          <a:p>
            <a:pPr marL="0" indent="0" algn="l">
              <a:buNone/>
            </a:pPr>
            <a:r>
              <a:rPr lang="cs-CZ" sz="3000" b="1" kern="0" dirty="0">
                <a:solidFill>
                  <a:srgbClr val="E6EDF3"/>
                </a:solidFill>
                <a:latin typeface="Cambria" pitchFamily="34" charset="0"/>
                <a:cs typeface="Cambria" pitchFamily="34" charset="0"/>
              </a:rPr>
              <a:t>Vrstvená architektura, kterou lze rozšiřovat</a:t>
            </a:r>
          </a:p>
        </p:txBody>
      </p:sp>
      <p:sp>
        <p:nvSpPr>
          <p:cNvPr id="4" name="tb"/>
          <p:cNvSpPr/>
          <p:nvPr/>
        </p:nvSpPr>
        <p:spPr>
          <a:xfrm>
            <a:off x="548640" y="1310640"/>
            <a:ext cx="11064240" cy="320040"/>
          </a:xfrm>
          <a:prstGeom prst="rect">
            <a:avLst/>
          </a:prstGeom>
          <a:noFill/>
          <a:ln/>
        </p:spPr>
        <p:txBody>
          <a:bodyPr wrap="square" rtlCol="0" anchor="ctr">
            <a:normAutofit/>
          </a:bodyPr>
          <a:lstStyle/>
          <a:p>
            <a:pPr marL="0" indent="0" algn="l">
              <a:buNone/>
            </a:pPr>
            <a:r>
              <a:rPr lang="cs-CZ" sz="1400" kern="0" dirty="0">
                <a:solidFill>
                  <a:srgbClr val="8B98AC"/>
                </a:solidFill>
                <a:latin typeface="Calibri" pitchFamily="34" charset="0"/>
                <a:cs typeface="Calibri" pitchFamily="34" charset="0"/>
              </a:rPr>
              <a:t>Jasné oddělení odpovědností — přidání nové entity znamená doplnit vrstvy, ne přepisovat stávající.</a:t>
            </a:r>
          </a:p>
        </p:txBody>
      </p:sp>
      <p:sp>
        <p:nvSpPr>
          <p:cNvPr id="5" name="tb"/>
          <p:cNvSpPr/>
          <p:nvPr/>
        </p:nvSpPr>
        <p:spPr>
          <a:xfrm>
            <a:off x="548640" y="1480000"/>
            <a:ext cx="5394960" cy="260000"/>
          </a:xfrm>
          <a:prstGeom prst="rect">
            <a:avLst/>
          </a:prstGeom>
          <a:noFill/>
          <a:ln/>
        </p:spPr>
        <p:txBody>
          <a:bodyPr wrap="square" rtlCol="0" anchor="t">
            <a:normAutofit/>
          </a:bodyPr>
          <a:lstStyle/>
          <a:p>
            <a:pPr marL="0" indent="0" algn="l">
              <a:buNone/>
            </a:pPr>
            <a:r>
              <a:rPr lang="cs-CZ" sz="1050" b="1" kern="0" spc="150" dirty="0">
                <a:solidFill>
                  <a:srgbClr val="8B98AC"/>
                </a:solidFill>
                <a:latin typeface="Calibri" pitchFamily="34" charset="0"/>
                <a:cs typeface="Calibri" pitchFamily="34" charset="0"/>
              </a:rPr>
              <a:t>VRSTVY MODULU</a:t>
            </a:r>
          </a:p>
        </p:txBody>
      </p:sp>
      <p:sp>
        <p:nvSpPr>
          <p:cNvPr id="6" name="card"/>
          <p:cNvSpPr/>
          <p:nvPr/>
        </p:nvSpPr>
        <p:spPr>
          <a:xfrm>
            <a:off x="548640" y="1780000"/>
            <a:ext cx="5394960" cy="862000"/>
          </a:xfrm>
          <a:prstGeom prst="roundRect">
            <a:avLst>
              <a:gd name="adj" fmla="val 3000"/>
            </a:avLst>
          </a:prstGeom>
          <a:solidFill>
            <a:srgbClr val="1B2333"/>
          </a:solidFill>
          <a:ln w="12700">
            <a:solidFill>
              <a:srgbClr val="2C3A52"/>
            </a:solidFill>
          </a:ln>
        </p:spPr>
        <p:txBody>
          <a:bodyPr rtlCol="0"/>
          <a:lstStyle/>
          <a:p>
            <a:endParaRPr lang="cs-CZ"/>
          </a:p>
        </p:txBody>
      </p:sp>
      <p:sp>
        <p:nvSpPr>
          <p:cNvPr id="7" name="badge"/>
          <p:cNvSpPr/>
          <p:nvPr/>
        </p:nvSpPr>
        <p:spPr>
          <a:xfrm>
            <a:off x="848640" y="1901000"/>
            <a:ext cx="620000" cy="620000"/>
          </a:xfrm>
          <a:prstGeom prst="ellipse">
            <a:avLst/>
          </a:prstGeom>
          <a:solidFill>
            <a:srgbClr val="10161F"/>
          </a:solidFill>
          <a:ln/>
        </p:spPr>
        <p:txBody>
          <a:bodyPr rtlCol="0" anchor="ctr"/>
          <a:lstStyle/>
          <a:p>
            <a:pPr algn="ctr">
              <a:buNone/>
            </a:pPr>
            <a:r>
              <a:rPr lang="cs-CZ" sz="1400" b="1" kern="0" dirty="0">
                <a:solidFill>
                  <a:srgbClr val="4FC3F7"/>
                </a:solidFill>
                <a:latin typeface="Consolas" pitchFamily="49" charset="0"/>
                <a:cs typeface="Consolas" pitchFamily="49" charset="0"/>
              </a:rPr>
              <a:t>1</a:t>
            </a:r>
          </a:p>
        </p:txBody>
      </p:sp>
      <p:sp>
        <p:nvSpPr>
          <p:cNvPr id="8" name="tb"/>
          <p:cNvSpPr/>
          <p:nvPr/>
        </p:nvSpPr>
        <p:spPr>
          <a:xfrm>
            <a:off x="1628640" y="1898872"/>
            <a:ext cx="4154960" cy="662000"/>
          </a:xfrm>
          <a:prstGeom prst="rect">
            <a:avLst/>
          </a:prstGeom>
          <a:noFill/>
          <a:ln/>
        </p:spPr>
        <p:txBody>
          <a:bodyPr wrap="square" rtlCol="0" anchor="t">
            <a:normAutofit lnSpcReduction="10000"/>
          </a:bodyPr>
          <a:lstStyle/>
          <a:p>
            <a:pPr marL="0" indent="0" algn="l">
              <a:buNone/>
            </a:pPr>
            <a:r>
              <a:rPr lang="cs-CZ" sz="1350" b="1" kern="0" dirty="0">
                <a:solidFill>
                  <a:srgbClr val="E6EDF3"/>
                </a:solidFill>
                <a:latin typeface="Cambria" pitchFamily="34" charset="0"/>
                <a:cs typeface="Cambria" pitchFamily="34" charset="0"/>
              </a:rPr>
              <a:t>Pages</a:t>
            </a:r>
          </a:p>
          <a:p>
            <a:pPr marL="0" indent="0" algn="l">
              <a:spcBef>
                <a:spcPts val="400"/>
              </a:spcBef>
              <a:buNone/>
            </a:pPr>
            <a:r>
              <a:rPr lang="cs-CZ" sz="1000" b="1" kern="0" dirty="0">
                <a:solidFill>
                  <a:srgbClr val="4FC3F7"/>
                </a:solidFill>
                <a:latin typeface="Consolas" pitchFamily="34" charset="0"/>
                <a:cs typeface="Consolas" pitchFamily="34" charset="0"/>
              </a:rPr>
              <a:t>PageReadItem · PageUpdateItem · PageVector</a:t>
            </a:r>
          </a:p>
          <a:p>
            <a:pPr marL="0" indent="0" algn="l">
              <a:spcBef>
                <a:spcPts val="300"/>
              </a:spcBef>
              <a:buNone/>
            </a:pPr>
            <a:r>
              <a:rPr lang="cs-CZ" sz="1000" kern="0" dirty="0">
                <a:solidFill>
                  <a:srgbClr val="8B98AC"/>
                </a:solidFill>
                <a:latin typeface="Calibri" pitchFamily="34" charset="0"/>
                <a:cs typeface="Calibri" pitchFamily="34" charset="0"/>
              </a:rPr>
              <a:t>vstupní stránky, routing</a:t>
            </a:r>
          </a:p>
        </p:txBody>
      </p:sp>
      <p:sp>
        <p:nvSpPr>
          <p:cNvPr id="9" name="card"/>
          <p:cNvSpPr/>
          <p:nvPr/>
        </p:nvSpPr>
        <p:spPr>
          <a:xfrm>
            <a:off x="548640" y="2792000"/>
            <a:ext cx="5394960" cy="862000"/>
          </a:xfrm>
          <a:prstGeom prst="roundRect">
            <a:avLst>
              <a:gd name="adj" fmla="val 3000"/>
            </a:avLst>
          </a:prstGeom>
          <a:solidFill>
            <a:srgbClr val="1B2333"/>
          </a:solidFill>
          <a:ln w="12700">
            <a:solidFill>
              <a:srgbClr val="2C3A52"/>
            </a:solidFill>
          </a:ln>
        </p:spPr>
        <p:txBody>
          <a:bodyPr rtlCol="0"/>
          <a:lstStyle/>
          <a:p>
            <a:endParaRPr lang="cs-CZ"/>
          </a:p>
        </p:txBody>
      </p:sp>
      <p:sp>
        <p:nvSpPr>
          <p:cNvPr id="10" name="badge"/>
          <p:cNvSpPr/>
          <p:nvPr/>
        </p:nvSpPr>
        <p:spPr>
          <a:xfrm>
            <a:off x="848640" y="2913000"/>
            <a:ext cx="620000" cy="620000"/>
          </a:xfrm>
          <a:prstGeom prst="ellipse">
            <a:avLst/>
          </a:prstGeom>
          <a:solidFill>
            <a:srgbClr val="10161F"/>
          </a:solidFill>
          <a:ln/>
        </p:spPr>
        <p:txBody>
          <a:bodyPr rtlCol="0" anchor="ctr"/>
          <a:lstStyle/>
          <a:p>
            <a:pPr algn="ctr">
              <a:buNone/>
            </a:pPr>
            <a:r>
              <a:rPr lang="cs-CZ" sz="1400" b="1" kern="0" dirty="0">
                <a:solidFill>
                  <a:srgbClr val="F778BA"/>
                </a:solidFill>
                <a:latin typeface="Consolas" pitchFamily="49" charset="0"/>
                <a:cs typeface="Consolas" pitchFamily="49" charset="0"/>
              </a:rPr>
              <a:t>2</a:t>
            </a:r>
          </a:p>
        </p:txBody>
      </p:sp>
      <p:sp>
        <p:nvSpPr>
          <p:cNvPr id="11" name="tb"/>
          <p:cNvSpPr/>
          <p:nvPr/>
        </p:nvSpPr>
        <p:spPr>
          <a:xfrm>
            <a:off x="1628640" y="2910872"/>
            <a:ext cx="4154960" cy="662000"/>
          </a:xfrm>
          <a:prstGeom prst="rect">
            <a:avLst/>
          </a:prstGeom>
          <a:noFill/>
          <a:ln/>
        </p:spPr>
        <p:txBody>
          <a:bodyPr wrap="square" rtlCol="0" anchor="t">
            <a:normAutofit lnSpcReduction="10000"/>
          </a:bodyPr>
          <a:lstStyle/>
          <a:p>
            <a:pPr marL="0" indent="0" algn="l">
              <a:buNone/>
            </a:pPr>
            <a:r>
              <a:rPr lang="cs-CZ" sz="1350" b="1" kern="0" dirty="0">
                <a:solidFill>
                  <a:srgbClr val="E6EDF3"/>
                </a:solidFill>
                <a:latin typeface="Cambria" pitchFamily="34" charset="0"/>
                <a:cs typeface="Cambria" pitchFamily="34" charset="0"/>
              </a:rPr>
              <a:t>Components</a:t>
            </a:r>
          </a:p>
          <a:p>
            <a:pPr marL="0" indent="0" algn="l">
              <a:spcBef>
                <a:spcPts val="400"/>
              </a:spcBef>
              <a:buNone/>
            </a:pPr>
            <a:r>
              <a:rPr lang="cs-CZ" sz="1000" b="1" kern="0" dirty="0">
                <a:solidFill>
                  <a:srgbClr val="F778BA"/>
                </a:solidFill>
                <a:latin typeface="Consolas" pitchFamily="34" charset="0"/>
                <a:cs typeface="Consolas" pitchFamily="34" charset="0"/>
              </a:rPr>
              <a:t>EditMode · Table · SemestersManager …</a:t>
            </a:r>
          </a:p>
          <a:p>
            <a:pPr marL="0" indent="0" algn="l">
              <a:spcBef>
                <a:spcPts val="300"/>
              </a:spcBef>
              <a:buNone/>
            </a:pPr>
            <a:r>
              <a:rPr lang="cs-CZ" sz="1000" kern="0" dirty="0">
                <a:solidFill>
                  <a:srgbClr val="8B98AC"/>
                </a:solidFill>
                <a:latin typeface="Calibri" pitchFamily="34" charset="0"/>
                <a:cs typeface="Calibri" pitchFamily="34" charset="0"/>
              </a:rPr>
              <a:t>prezentace, jen předávají onChange</a:t>
            </a:r>
          </a:p>
        </p:txBody>
      </p:sp>
      <p:sp>
        <p:nvSpPr>
          <p:cNvPr id="12" name="card"/>
          <p:cNvSpPr/>
          <p:nvPr/>
        </p:nvSpPr>
        <p:spPr>
          <a:xfrm>
            <a:off x="548640" y="3804000"/>
            <a:ext cx="5394960" cy="862000"/>
          </a:xfrm>
          <a:prstGeom prst="roundRect">
            <a:avLst>
              <a:gd name="adj" fmla="val 3000"/>
            </a:avLst>
          </a:prstGeom>
          <a:solidFill>
            <a:srgbClr val="1B2333"/>
          </a:solidFill>
          <a:ln w="12700">
            <a:solidFill>
              <a:srgbClr val="2C3A52"/>
            </a:solidFill>
          </a:ln>
        </p:spPr>
        <p:txBody>
          <a:bodyPr rtlCol="0"/>
          <a:lstStyle/>
          <a:p>
            <a:endParaRPr lang="cs-CZ"/>
          </a:p>
        </p:txBody>
      </p:sp>
      <p:sp>
        <p:nvSpPr>
          <p:cNvPr id="13" name="badge"/>
          <p:cNvSpPr/>
          <p:nvPr/>
        </p:nvSpPr>
        <p:spPr>
          <a:xfrm>
            <a:off x="848640" y="3925000"/>
            <a:ext cx="620000" cy="620000"/>
          </a:xfrm>
          <a:prstGeom prst="ellipse">
            <a:avLst/>
          </a:prstGeom>
          <a:solidFill>
            <a:srgbClr val="10161F"/>
          </a:solidFill>
          <a:ln/>
        </p:spPr>
        <p:txBody>
          <a:bodyPr rtlCol="0" anchor="ctr"/>
          <a:lstStyle/>
          <a:p>
            <a:pPr algn="ctr">
              <a:buNone/>
            </a:pPr>
            <a:r>
              <a:rPr lang="cs-CZ" sz="1400" b="1" kern="0" dirty="0">
                <a:solidFill>
                  <a:srgbClr val="F0A868"/>
                </a:solidFill>
                <a:latin typeface="Consolas" pitchFamily="49" charset="0"/>
                <a:cs typeface="Consolas" pitchFamily="49" charset="0"/>
              </a:rPr>
              <a:t>3</a:t>
            </a:r>
          </a:p>
        </p:txBody>
      </p:sp>
      <p:sp>
        <p:nvSpPr>
          <p:cNvPr id="14" name="tb"/>
          <p:cNvSpPr/>
          <p:nvPr/>
        </p:nvSpPr>
        <p:spPr>
          <a:xfrm>
            <a:off x="1628640" y="3922872"/>
            <a:ext cx="4154960" cy="662000"/>
          </a:xfrm>
          <a:prstGeom prst="rect">
            <a:avLst/>
          </a:prstGeom>
          <a:noFill/>
          <a:ln/>
        </p:spPr>
        <p:txBody>
          <a:bodyPr wrap="square" rtlCol="0" anchor="t">
            <a:normAutofit lnSpcReduction="10000"/>
          </a:bodyPr>
          <a:lstStyle/>
          <a:p>
            <a:pPr marL="0" indent="0" algn="l">
              <a:buNone/>
            </a:pPr>
            <a:r>
              <a:rPr lang="cs-CZ" sz="1350" b="1" kern="0" dirty="0">
                <a:solidFill>
                  <a:srgbClr val="E6EDF3"/>
                </a:solidFill>
                <a:latin typeface="Cambria" pitchFamily="34" charset="0"/>
                <a:cs typeface="Cambria" pitchFamily="34" charset="0"/>
              </a:rPr>
              <a:t>Queries / Actions</a:t>
            </a:r>
          </a:p>
          <a:p>
            <a:pPr marL="0" indent="0" algn="l">
              <a:spcBef>
                <a:spcPts val="400"/>
              </a:spcBef>
              <a:buNone/>
            </a:pPr>
            <a:r>
              <a:rPr lang="cs-CZ" sz="1000" b="1" kern="0" dirty="0">
                <a:solidFill>
                  <a:srgbClr val="F0A868"/>
                </a:solidFill>
                <a:latin typeface="Consolas" pitchFamily="34" charset="0"/>
                <a:cs typeface="Consolas" pitchFamily="34" charset="0"/>
              </a:rPr>
              <a:t>InsertAsyncAction · ReadPageAsyncAction …</a:t>
            </a:r>
          </a:p>
          <a:p>
            <a:pPr marL="0" indent="0" algn="l">
              <a:spcBef>
                <a:spcPts val="300"/>
              </a:spcBef>
              <a:buNone/>
            </a:pPr>
            <a:r>
              <a:rPr lang="cs-CZ" sz="1000" kern="0" dirty="0">
                <a:solidFill>
                  <a:srgbClr val="8B98AC"/>
                </a:solidFill>
                <a:latin typeface="Calibri" pitchFamily="34" charset="0"/>
                <a:cs typeface="Calibri" pitchFamily="34" charset="0"/>
              </a:rPr>
              <a:t>async akce nad GraphQL</a:t>
            </a:r>
          </a:p>
        </p:txBody>
      </p:sp>
      <p:sp>
        <p:nvSpPr>
          <p:cNvPr id="15" name="card"/>
          <p:cNvSpPr/>
          <p:nvPr/>
        </p:nvSpPr>
        <p:spPr>
          <a:xfrm>
            <a:off x="548640" y="4816000"/>
            <a:ext cx="5394960" cy="862000"/>
          </a:xfrm>
          <a:prstGeom prst="roundRect">
            <a:avLst>
              <a:gd name="adj" fmla="val 3000"/>
            </a:avLst>
          </a:prstGeom>
          <a:solidFill>
            <a:srgbClr val="1B2333"/>
          </a:solidFill>
          <a:ln w="12700">
            <a:solidFill>
              <a:srgbClr val="2C3A52"/>
            </a:solidFill>
          </a:ln>
        </p:spPr>
        <p:txBody>
          <a:bodyPr rtlCol="0"/>
          <a:lstStyle/>
          <a:p>
            <a:endParaRPr lang="cs-CZ"/>
          </a:p>
        </p:txBody>
      </p:sp>
      <p:sp>
        <p:nvSpPr>
          <p:cNvPr id="16" name="badge"/>
          <p:cNvSpPr/>
          <p:nvPr/>
        </p:nvSpPr>
        <p:spPr>
          <a:xfrm>
            <a:off x="848640" y="4937000"/>
            <a:ext cx="620000" cy="620000"/>
          </a:xfrm>
          <a:prstGeom prst="ellipse">
            <a:avLst/>
          </a:prstGeom>
          <a:solidFill>
            <a:srgbClr val="10161F"/>
          </a:solidFill>
          <a:ln/>
        </p:spPr>
        <p:txBody>
          <a:bodyPr rtlCol="0" anchor="ctr"/>
          <a:lstStyle/>
          <a:p>
            <a:pPr algn="ctr">
              <a:buNone/>
            </a:pPr>
            <a:r>
              <a:rPr lang="cs-CZ" sz="1400" b="1" kern="0" dirty="0">
                <a:solidFill>
                  <a:srgbClr val="7EE787"/>
                </a:solidFill>
                <a:latin typeface="Consolas" pitchFamily="49" charset="0"/>
                <a:cs typeface="Consolas" pitchFamily="49" charset="0"/>
              </a:rPr>
              <a:t>4</a:t>
            </a:r>
          </a:p>
        </p:txBody>
      </p:sp>
      <p:sp>
        <p:nvSpPr>
          <p:cNvPr id="17" name="tb"/>
          <p:cNvSpPr/>
          <p:nvPr/>
        </p:nvSpPr>
        <p:spPr>
          <a:xfrm>
            <a:off x="1628640" y="4934872"/>
            <a:ext cx="4154960" cy="662000"/>
          </a:xfrm>
          <a:prstGeom prst="rect">
            <a:avLst/>
          </a:prstGeom>
          <a:noFill/>
          <a:ln/>
        </p:spPr>
        <p:txBody>
          <a:bodyPr wrap="square" rtlCol="0" anchor="t">
            <a:normAutofit lnSpcReduction="10000"/>
          </a:bodyPr>
          <a:lstStyle/>
          <a:p>
            <a:pPr marL="0" indent="0" algn="l">
              <a:buNone/>
            </a:pPr>
            <a:r>
              <a:rPr lang="cs-CZ" sz="1350" b="1" kern="0" dirty="0">
                <a:solidFill>
                  <a:srgbClr val="E6EDF3"/>
                </a:solidFill>
                <a:latin typeface="Cambria" pitchFamily="34" charset="0"/>
                <a:cs typeface="Cambria" pitchFamily="34" charset="0"/>
              </a:rPr>
              <a:t>Mutations / Fragments</a:t>
            </a:r>
          </a:p>
          <a:p>
            <a:pPr marL="0" indent="0" algn="l">
              <a:spcBef>
                <a:spcPts val="400"/>
              </a:spcBef>
              <a:buNone/>
            </a:pPr>
            <a:r>
              <a:rPr lang="cs-CZ" sz="1000" b="1" kern="0" dirty="0">
                <a:solidFill>
                  <a:srgbClr val="7EE787"/>
                </a:solidFill>
                <a:latin typeface="Consolas" pitchFamily="34" charset="0"/>
                <a:cs typeface="Consolas" pitchFamily="34" charset="0"/>
              </a:rPr>
              <a:t>Create · Update · Delete · Fragments</a:t>
            </a:r>
          </a:p>
          <a:p>
            <a:pPr marL="0" indent="0" algn="l">
              <a:spcBef>
                <a:spcPts val="300"/>
              </a:spcBef>
              <a:buNone/>
            </a:pPr>
            <a:r>
              <a:rPr lang="cs-CZ" sz="1000" kern="0" dirty="0">
                <a:solidFill>
                  <a:srgbClr val="8B98AC"/>
                </a:solidFill>
                <a:latin typeface="Calibri" pitchFamily="34" charset="0"/>
                <a:cs typeface="Calibri" pitchFamily="34" charset="0"/>
              </a:rPr>
              <a:t>definice dat a mutací</a:t>
            </a:r>
          </a:p>
        </p:txBody>
      </p:sp>
      <p:sp>
        <p:nvSpPr>
          <p:cNvPr id="18" name="tb"/>
          <p:cNvSpPr/>
          <p:nvPr/>
        </p:nvSpPr>
        <p:spPr>
          <a:xfrm>
            <a:off x="6172200" y="1480000"/>
            <a:ext cx="5486400" cy="260000"/>
          </a:xfrm>
          <a:prstGeom prst="rect">
            <a:avLst/>
          </a:prstGeom>
          <a:noFill/>
          <a:ln/>
        </p:spPr>
        <p:txBody>
          <a:bodyPr wrap="square" rtlCol="0" anchor="t">
            <a:normAutofit/>
          </a:bodyPr>
          <a:lstStyle/>
          <a:p>
            <a:pPr marL="0" indent="0" algn="l">
              <a:buNone/>
            </a:pPr>
            <a:r>
              <a:rPr lang="cs-CZ" sz="1050" b="1" kern="0" spc="150" dirty="0">
                <a:solidFill>
                  <a:srgbClr val="8B98AC"/>
                </a:solidFill>
                <a:latin typeface="Calibri" pitchFamily="34" charset="0"/>
                <a:cs typeface="Calibri" pitchFamily="34" charset="0"/>
              </a:rPr>
              <a:t>PROČ TO VYDRŽÍ</a:t>
            </a:r>
          </a:p>
        </p:txBody>
      </p:sp>
      <p:sp>
        <p:nvSpPr>
          <p:cNvPr id="19" name="card"/>
          <p:cNvSpPr/>
          <p:nvPr/>
        </p:nvSpPr>
        <p:spPr>
          <a:xfrm>
            <a:off x="6172200" y="1780000"/>
            <a:ext cx="5486400" cy="862000"/>
          </a:xfrm>
          <a:prstGeom prst="roundRect">
            <a:avLst>
              <a:gd name="adj" fmla="val 3000"/>
            </a:avLst>
          </a:prstGeom>
          <a:solidFill>
            <a:srgbClr val="1B2333"/>
          </a:solidFill>
          <a:ln w="12700">
            <a:solidFill>
              <a:srgbClr val="2C3A52"/>
            </a:solidFill>
          </a:ln>
        </p:spPr>
        <p:txBody>
          <a:bodyPr rtlCol="0"/>
          <a:lstStyle/>
          <a:p>
            <a:endParaRPr lang="cs-CZ"/>
          </a:p>
        </p:txBody>
      </p:sp>
      <p:sp>
        <p:nvSpPr>
          <p:cNvPr id="20" name="badge"/>
          <p:cNvSpPr/>
          <p:nvPr/>
        </p:nvSpPr>
        <p:spPr>
          <a:xfrm>
            <a:off x="6412200" y="1931000"/>
            <a:ext cx="560000" cy="560000"/>
          </a:xfrm>
          <a:prstGeom prst="ellipse">
            <a:avLst/>
          </a:prstGeom>
          <a:solidFill>
            <a:srgbClr val="10161F"/>
          </a:solidFill>
          <a:ln/>
        </p:spPr>
        <p:txBody>
          <a:bodyPr rtlCol="0" anchor="ctr"/>
          <a:lstStyle/>
          <a:p>
            <a:pPr algn="ctr">
              <a:buNone/>
            </a:pPr>
            <a:r>
              <a:rPr lang="cs-CZ" sz="1400" b="1" kern="0" dirty="0">
                <a:solidFill>
                  <a:srgbClr val="4FC3F7"/>
                </a:solidFill>
                <a:latin typeface="Consolas" pitchFamily="49" charset="0"/>
                <a:cs typeface="Consolas" pitchFamily="49" charset="0"/>
              </a:rPr>
              <a:t>1</a:t>
            </a:r>
          </a:p>
        </p:txBody>
      </p:sp>
      <p:sp>
        <p:nvSpPr>
          <p:cNvPr id="21" name="tb"/>
          <p:cNvSpPr/>
          <p:nvPr/>
        </p:nvSpPr>
        <p:spPr>
          <a:xfrm>
            <a:off x="7132200" y="1920000"/>
            <a:ext cx="4346400" cy="622000"/>
          </a:xfrm>
          <a:prstGeom prst="rect">
            <a:avLst/>
          </a:prstGeom>
          <a:noFill/>
          <a:ln/>
        </p:spPr>
        <p:txBody>
          <a:bodyPr wrap="square" rtlCol="0" anchor="t">
            <a:normAutofit/>
          </a:bodyPr>
          <a:lstStyle/>
          <a:p>
            <a:pPr marL="0" indent="0" algn="l">
              <a:buNone/>
            </a:pPr>
            <a:r>
              <a:rPr lang="cs-CZ" sz="1300" b="1" kern="0" dirty="0">
                <a:solidFill>
                  <a:srgbClr val="E6EDF3"/>
                </a:solidFill>
                <a:latin typeface="Calibri" pitchFamily="34" charset="0"/>
                <a:cs typeface="Calibri" pitchFamily="34" charset="0"/>
              </a:rPr>
              <a:t>Jednosměrný tok dat</a:t>
            </a:r>
          </a:p>
          <a:p>
            <a:pPr marL="0" indent="0" algn="l">
              <a:spcBef>
                <a:spcPts val="400"/>
              </a:spcBef>
              <a:buNone/>
            </a:pPr>
            <a:r>
              <a:rPr lang="cs-CZ" sz="1050" kern="0" dirty="0">
                <a:solidFill>
                  <a:srgbClr val="8B98AC"/>
                </a:solidFill>
                <a:latin typeface="Calibri" pitchFamily="34" charset="0"/>
                <a:cs typeface="Calibri" pitchFamily="34" charset="0"/>
              </a:rPr>
              <a:t>onChange nahoru, stav a ukládání centralizuje EditMode</a:t>
            </a:r>
          </a:p>
        </p:txBody>
      </p:sp>
      <p:sp>
        <p:nvSpPr>
          <p:cNvPr id="22" name="card"/>
          <p:cNvSpPr/>
          <p:nvPr/>
        </p:nvSpPr>
        <p:spPr>
          <a:xfrm>
            <a:off x="6172200" y="2792000"/>
            <a:ext cx="5486400" cy="862000"/>
          </a:xfrm>
          <a:prstGeom prst="roundRect">
            <a:avLst>
              <a:gd name="adj" fmla="val 3000"/>
            </a:avLst>
          </a:prstGeom>
          <a:solidFill>
            <a:srgbClr val="1B2333"/>
          </a:solidFill>
          <a:ln w="12700">
            <a:solidFill>
              <a:srgbClr val="2C3A52"/>
            </a:solidFill>
          </a:ln>
        </p:spPr>
        <p:txBody>
          <a:bodyPr rtlCol="0"/>
          <a:lstStyle/>
          <a:p>
            <a:endParaRPr lang="cs-CZ"/>
          </a:p>
        </p:txBody>
      </p:sp>
      <p:sp>
        <p:nvSpPr>
          <p:cNvPr id="23" name="badge"/>
          <p:cNvSpPr/>
          <p:nvPr/>
        </p:nvSpPr>
        <p:spPr>
          <a:xfrm>
            <a:off x="6412200" y="2943000"/>
            <a:ext cx="560000" cy="560000"/>
          </a:xfrm>
          <a:prstGeom prst="ellipse">
            <a:avLst/>
          </a:prstGeom>
          <a:solidFill>
            <a:srgbClr val="10161F"/>
          </a:solidFill>
          <a:ln/>
        </p:spPr>
        <p:txBody>
          <a:bodyPr rtlCol="0" anchor="ctr"/>
          <a:lstStyle/>
          <a:p>
            <a:pPr algn="ctr">
              <a:buNone/>
            </a:pPr>
            <a:r>
              <a:rPr lang="cs-CZ" sz="1400" b="1" kern="0" dirty="0">
                <a:solidFill>
                  <a:srgbClr val="F778BA"/>
                </a:solidFill>
                <a:latin typeface="Consolas" pitchFamily="49" charset="0"/>
                <a:cs typeface="Consolas" pitchFamily="49" charset="0"/>
              </a:rPr>
              <a:t>2</a:t>
            </a:r>
          </a:p>
        </p:txBody>
      </p:sp>
      <p:sp>
        <p:nvSpPr>
          <p:cNvPr id="24" name="tb"/>
          <p:cNvSpPr/>
          <p:nvPr/>
        </p:nvSpPr>
        <p:spPr>
          <a:xfrm>
            <a:off x="7132200" y="2932000"/>
            <a:ext cx="4346400" cy="622000"/>
          </a:xfrm>
          <a:prstGeom prst="rect">
            <a:avLst/>
          </a:prstGeom>
          <a:noFill/>
          <a:ln/>
        </p:spPr>
        <p:txBody>
          <a:bodyPr wrap="square" rtlCol="0" anchor="t">
            <a:normAutofit/>
          </a:bodyPr>
          <a:lstStyle/>
          <a:p>
            <a:pPr marL="0" indent="0" algn="l">
              <a:buNone/>
            </a:pPr>
            <a:r>
              <a:rPr lang="cs-CZ" sz="1300" b="1" kern="0" dirty="0">
                <a:solidFill>
                  <a:srgbClr val="E6EDF3"/>
                </a:solidFill>
                <a:latin typeface="Calibri" pitchFamily="34" charset="0"/>
                <a:cs typeface="Calibri" pitchFamily="34" charset="0"/>
              </a:rPr>
              <a:t>Znovupoužitelnost</a:t>
            </a:r>
          </a:p>
          <a:p>
            <a:pPr marL="0" indent="0" algn="l">
              <a:spcBef>
                <a:spcPts val="400"/>
              </a:spcBef>
              <a:buNone/>
            </a:pPr>
            <a:r>
              <a:rPr lang="cs-CZ" sz="1050" kern="0" dirty="0">
                <a:solidFill>
                  <a:srgbClr val="8B98AC"/>
                </a:solidFill>
                <a:latin typeface="Calibri" pitchFamily="34" charset="0"/>
                <a:cs typeface="Calibri" pitchFamily="34" charset="0"/>
              </a:rPr>
              <a:t>generické komponenty parametrizované jen přes props</a:t>
            </a:r>
          </a:p>
        </p:txBody>
      </p:sp>
      <p:sp>
        <p:nvSpPr>
          <p:cNvPr id="25" name="card"/>
          <p:cNvSpPr/>
          <p:nvPr/>
        </p:nvSpPr>
        <p:spPr>
          <a:xfrm>
            <a:off x="6172200" y="3804000"/>
            <a:ext cx="5486400" cy="862000"/>
          </a:xfrm>
          <a:prstGeom prst="roundRect">
            <a:avLst>
              <a:gd name="adj" fmla="val 3000"/>
            </a:avLst>
          </a:prstGeom>
          <a:solidFill>
            <a:srgbClr val="1B2333"/>
          </a:solidFill>
          <a:ln w="12700">
            <a:solidFill>
              <a:srgbClr val="2C3A52"/>
            </a:solidFill>
          </a:ln>
        </p:spPr>
        <p:txBody>
          <a:bodyPr rtlCol="0"/>
          <a:lstStyle/>
          <a:p>
            <a:endParaRPr lang="cs-CZ"/>
          </a:p>
        </p:txBody>
      </p:sp>
      <p:sp>
        <p:nvSpPr>
          <p:cNvPr id="26" name="badge"/>
          <p:cNvSpPr/>
          <p:nvPr/>
        </p:nvSpPr>
        <p:spPr>
          <a:xfrm>
            <a:off x="6412200" y="3955000"/>
            <a:ext cx="560000" cy="560000"/>
          </a:xfrm>
          <a:prstGeom prst="ellipse">
            <a:avLst/>
          </a:prstGeom>
          <a:solidFill>
            <a:srgbClr val="10161F"/>
          </a:solidFill>
          <a:ln/>
        </p:spPr>
        <p:txBody>
          <a:bodyPr rtlCol="0" anchor="ctr"/>
          <a:lstStyle/>
          <a:p>
            <a:pPr algn="ctr">
              <a:buNone/>
            </a:pPr>
            <a:r>
              <a:rPr lang="cs-CZ" sz="1400" b="1" kern="0" dirty="0">
                <a:solidFill>
                  <a:srgbClr val="7EE787"/>
                </a:solidFill>
                <a:latin typeface="Consolas" pitchFamily="49" charset="0"/>
                <a:cs typeface="Consolas" pitchFamily="49" charset="0"/>
              </a:rPr>
              <a:t>3</a:t>
            </a:r>
          </a:p>
        </p:txBody>
      </p:sp>
      <p:sp>
        <p:nvSpPr>
          <p:cNvPr id="27" name="tb"/>
          <p:cNvSpPr/>
          <p:nvPr/>
        </p:nvSpPr>
        <p:spPr>
          <a:xfrm>
            <a:off x="7132200" y="3944000"/>
            <a:ext cx="4346400" cy="622000"/>
          </a:xfrm>
          <a:prstGeom prst="rect">
            <a:avLst/>
          </a:prstGeom>
          <a:noFill/>
          <a:ln/>
        </p:spPr>
        <p:txBody>
          <a:bodyPr wrap="square" rtlCol="0" anchor="t">
            <a:normAutofit/>
          </a:bodyPr>
          <a:lstStyle/>
          <a:p>
            <a:pPr marL="0" indent="0" algn="l">
              <a:buNone/>
            </a:pPr>
            <a:r>
              <a:rPr lang="cs-CZ" sz="1300" b="1" kern="0" dirty="0">
                <a:solidFill>
                  <a:srgbClr val="E6EDF3"/>
                </a:solidFill>
                <a:latin typeface="Calibri" pitchFamily="34" charset="0"/>
                <a:cs typeface="Calibri" pitchFamily="34" charset="0"/>
              </a:rPr>
              <a:t>Optimistic locking</a:t>
            </a:r>
          </a:p>
          <a:p>
            <a:pPr marL="0" indent="0" algn="l">
              <a:spcBef>
                <a:spcPts val="400"/>
              </a:spcBef>
              <a:buNone/>
            </a:pPr>
            <a:r>
              <a:rPr lang="cs-CZ" sz="1050" kern="0" dirty="0">
                <a:solidFill>
                  <a:srgbClr val="8B98AC"/>
                </a:solidFill>
                <a:latin typeface="Calibri" pitchFamily="34" charset="0"/>
                <a:cs typeface="Calibri" pitchFamily="34" charset="0"/>
              </a:rPr>
              <a:t>každá mutace nese lastchange — bezpečné souběžné editace</a:t>
            </a:r>
          </a:p>
        </p:txBody>
      </p:sp>
      <p:sp>
        <p:nvSpPr>
          <p:cNvPr id="28" name="card"/>
          <p:cNvSpPr/>
          <p:nvPr/>
        </p:nvSpPr>
        <p:spPr>
          <a:xfrm>
            <a:off x="6172200" y="4816000"/>
            <a:ext cx="5486400" cy="862000"/>
          </a:xfrm>
          <a:prstGeom prst="roundRect">
            <a:avLst>
              <a:gd name="adj" fmla="val 3000"/>
            </a:avLst>
          </a:prstGeom>
          <a:solidFill>
            <a:srgbClr val="1B2333"/>
          </a:solidFill>
          <a:ln w="12700">
            <a:solidFill>
              <a:srgbClr val="2C3A52"/>
            </a:solidFill>
          </a:ln>
        </p:spPr>
        <p:txBody>
          <a:bodyPr rtlCol="0"/>
          <a:lstStyle/>
          <a:p>
            <a:endParaRPr lang="cs-CZ"/>
          </a:p>
        </p:txBody>
      </p:sp>
      <p:sp>
        <p:nvSpPr>
          <p:cNvPr id="29" name="badge"/>
          <p:cNvSpPr/>
          <p:nvPr/>
        </p:nvSpPr>
        <p:spPr>
          <a:xfrm>
            <a:off x="6412200" y="4967000"/>
            <a:ext cx="560000" cy="560000"/>
          </a:xfrm>
          <a:prstGeom prst="ellipse">
            <a:avLst/>
          </a:prstGeom>
          <a:solidFill>
            <a:srgbClr val="10161F"/>
          </a:solidFill>
          <a:ln/>
        </p:spPr>
        <p:txBody>
          <a:bodyPr rtlCol="0" anchor="ctr"/>
          <a:lstStyle/>
          <a:p>
            <a:pPr algn="ctr">
              <a:buNone/>
            </a:pPr>
            <a:r>
              <a:rPr lang="cs-CZ" sz="1400" b="1" kern="0" dirty="0">
                <a:solidFill>
                  <a:srgbClr val="F0A868"/>
                </a:solidFill>
                <a:latin typeface="Consolas" pitchFamily="49" charset="0"/>
                <a:cs typeface="Consolas" pitchFamily="49" charset="0"/>
              </a:rPr>
              <a:t>4</a:t>
            </a:r>
          </a:p>
        </p:txBody>
      </p:sp>
      <p:sp>
        <p:nvSpPr>
          <p:cNvPr id="30" name="tb"/>
          <p:cNvSpPr/>
          <p:nvPr/>
        </p:nvSpPr>
        <p:spPr>
          <a:xfrm>
            <a:off x="7132200" y="4956000"/>
            <a:ext cx="4346400" cy="622000"/>
          </a:xfrm>
          <a:prstGeom prst="rect">
            <a:avLst/>
          </a:prstGeom>
          <a:noFill/>
          <a:ln/>
        </p:spPr>
        <p:txBody>
          <a:bodyPr wrap="square" rtlCol="0" anchor="t">
            <a:normAutofit/>
          </a:bodyPr>
          <a:lstStyle/>
          <a:p>
            <a:pPr marL="0" indent="0" algn="l">
              <a:buNone/>
            </a:pPr>
            <a:r>
              <a:rPr lang="cs-CZ" sz="1300" b="1" kern="0" dirty="0">
                <a:solidFill>
                  <a:srgbClr val="E6EDF3"/>
                </a:solidFill>
                <a:latin typeface="Calibri" pitchFamily="34" charset="0"/>
                <a:cs typeface="Calibri" pitchFamily="34" charset="0"/>
              </a:rPr>
              <a:t>Robustní chyby</a:t>
            </a:r>
          </a:p>
          <a:p>
            <a:pPr marL="0" indent="0" algn="l">
              <a:spcBef>
                <a:spcPts val="400"/>
              </a:spcBef>
              <a:buNone/>
            </a:pPr>
            <a:r>
              <a:rPr lang="cs-CZ" sz="1050" kern="0" dirty="0">
                <a:solidFill>
                  <a:srgbClr val="8B98AC"/>
                </a:solidFill>
                <a:latin typeface="Calibri" pitchFamily="34" charset="0"/>
                <a:cs typeface="Calibri" pitchFamily="34" charset="0"/>
              </a:rPr>
              <a:t>ForeignKey a validace překládané do srozumitelných hlášek</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a:extLst>
            <a:ext uri="{FF2B5EF4-FFF2-40B4-BE49-F238E27FC236}">
              <a16:creationId xmlns:a16="http://schemas.microsoft.com/office/drawing/2014/main" id="{21584036-BB3E-05EB-39CA-A2CF20BECFA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D8174BB-62FB-73D8-B39E-2A7EEEEFB6C6}"/>
              </a:ext>
            </a:extLst>
          </p:cNvPr>
          <p:cNvSpPr/>
          <p:nvPr/>
        </p:nvSpPr>
        <p:spPr>
          <a:xfrm>
            <a:off x="563880" y="857693"/>
            <a:ext cx="11064240" cy="685800"/>
          </a:xfrm>
          <a:prstGeom prst="rect">
            <a:avLst/>
          </a:prstGeom>
          <a:noFill/>
          <a:ln/>
        </p:spPr>
        <p:txBody>
          <a:bodyPr wrap="square" rtlCol="0" anchor="ctr"/>
          <a:lstStyle/>
          <a:p>
            <a:pPr marL="0" indent="0" algn="ctr">
              <a:buNone/>
            </a:pPr>
            <a:r>
              <a:rPr lang="sk-SK" sz="3000" b="1" dirty="0" err="1">
                <a:solidFill>
                  <a:srgbClr val="E6EDF3"/>
                </a:solidFill>
                <a:latin typeface="Cambria" pitchFamily="34" charset="0"/>
                <a:ea typeface="Cambria" pitchFamily="34" charset="-122"/>
                <a:cs typeface="Cambria" pitchFamily="34" charset="-120"/>
              </a:rPr>
              <a:t>Děkujeme</a:t>
            </a:r>
            <a:r>
              <a:rPr lang="sk-SK" sz="3000" b="1" dirty="0">
                <a:solidFill>
                  <a:srgbClr val="E6EDF3"/>
                </a:solidFill>
                <a:latin typeface="Cambria" pitchFamily="34" charset="0"/>
                <a:ea typeface="Cambria" pitchFamily="34" charset="-122"/>
                <a:cs typeface="Cambria" pitchFamily="34" charset="-120"/>
              </a:rPr>
              <a:t> za </a:t>
            </a:r>
            <a:r>
              <a:rPr lang="sk-SK" sz="3000" b="1" dirty="0" err="1">
                <a:solidFill>
                  <a:srgbClr val="E6EDF3"/>
                </a:solidFill>
                <a:latin typeface="Cambria" pitchFamily="34" charset="0"/>
                <a:ea typeface="Cambria" pitchFamily="34" charset="-122"/>
                <a:cs typeface="Cambria" pitchFamily="34" charset="-120"/>
              </a:rPr>
              <a:t>pozornost</a:t>
            </a:r>
            <a:endParaRPr lang="en-US" sz="3000" dirty="0"/>
          </a:p>
        </p:txBody>
      </p:sp>
      <p:pic>
        <p:nvPicPr>
          <p:cNvPr id="27" name="dusan_67">
            <a:hlinkClick r:id="" action="ppaction://media"/>
            <a:extLst>
              <a:ext uri="{FF2B5EF4-FFF2-40B4-BE49-F238E27FC236}">
                <a16:creationId xmlns:a16="http://schemas.microsoft.com/office/drawing/2014/main" id="{4BA15B1A-4A5A-0F9B-D417-9C52C173710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502195" y="2248195"/>
            <a:ext cx="2242473" cy="3986619"/>
          </a:xfrm>
          <a:prstGeom prst="rect">
            <a:avLst/>
          </a:prstGeom>
          <a:ln w="228600" cap="sq">
            <a:gradFill>
              <a:gsLst>
                <a:gs pos="0">
                  <a:srgbClr val="DDDDDD"/>
                </a:gs>
                <a:gs pos="100000">
                  <a:srgbClr val="FFFFFF"/>
                </a:gs>
              </a:gsLst>
              <a:lin ang="5400000" scaled="1"/>
            </a:gradFill>
            <a:miter lim="800000"/>
          </a:ln>
          <a:effectLst>
            <a:outerShdw blurRad="177800" dist="127000" dir="9600000" sx="102000" sy="102000" kx="195000" ky="145000" algn="tl" rotWithShape="0">
              <a:srgbClr val="000000">
                <a:alpha val="30000"/>
              </a:srgbClr>
            </a:outerShdw>
          </a:effectLst>
          <a:scene3d>
            <a:camera prst="orthographicFront">
              <a:rot lat="0" lon="0" rev="21240000"/>
            </a:camera>
            <a:lightRig rig="twoPt" dir="t">
              <a:rot lat="0" lon="0" rev="7200000"/>
            </a:lightRig>
          </a:scene3d>
          <a:sp3d extrusionH="38100">
            <a:extrusionClr>
              <a:srgbClr val="FFFFFF"/>
            </a:extrusionClr>
          </a:sp3d>
        </p:spPr>
      </p:pic>
      <p:pic>
        <p:nvPicPr>
          <p:cNvPr id="29" name="Picture 28">
            <a:extLst>
              <a:ext uri="{FF2B5EF4-FFF2-40B4-BE49-F238E27FC236}">
                <a16:creationId xmlns:a16="http://schemas.microsoft.com/office/drawing/2014/main" id="{A2CCB994-57EE-1AF1-11CC-6A605F1FF561}"/>
              </a:ext>
            </a:extLst>
          </p:cNvPr>
          <p:cNvPicPr>
            <a:picLocks noChangeAspect="1"/>
          </p:cNvPicPr>
          <p:nvPr/>
        </p:nvPicPr>
        <p:blipFill>
          <a:blip r:embed="rId6"/>
          <a:srcRect t="3860" b="24098"/>
          <a:stretch>
            <a:fillRect/>
          </a:stretch>
        </p:blipFill>
        <p:spPr>
          <a:xfrm>
            <a:off x="7130811" y="2248195"/>
            <a:ext cx="2729113" cy="406872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46386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33"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27"/>
                </p:tgtEl>
              </p:cMediaNode>
            </p:video>
            <p:seq concurrent="1" nextAc="seek">
              <p:cTn id="8" restart="whenNotActive" fill="hold" evtFilter="cancelBubble" nodeType="interactiveSeq">
                <p:stCondLst>
                  <p:cond evt="onClick" delay="0">
                    <p:tgtEl>
                      <p:spTgt spid="2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7"/>
                                        </p:tgtEl>
                                      </p:cBhvr>
                                    </p:cmd>
                                  </p:childTnLst>
                                </p:cTn>
                              </p:par>
                            </p:childTnLst>
                          </p:cTn>
                        </p:par>
                      </p:childTnLst>
                    </p:cTn>
                  </p:par>
                </p:childTnLst>
              </p:cTn>
              <p:nextCondLst>
                <p:cond evt="onClick" delay="0">
                  <p:tgtEl>
                    <p:spTgt spid="27"/>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2270</Words>
  <Application>Microsoft Office PowerPoint</Application>
  <PresentationFormat>Widescreen</PresentationFormat>
  <Paragraphs>338</Paragraphs>
  <Slides>13</Slides>
  <Notes>13</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Cambria</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Bartoň Jan</cp:lastModifiedBy>
  <cp:revision>4</cp:revision>
  <dcterms:created xsi:type="dcterms:W3CDTF">2026-07-14T15:36:19Z</dcterms:created>
  <dcterms:modified xsi:type="dcterms:W3CDTF">2026-07-16T10:58:00Z</dcterms:modified>
</cp:coreProperties>
</file>